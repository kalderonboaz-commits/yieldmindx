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0" r:id="rId4"/>
    <p:sldId id="261" r:id="rId5"/>
    <p:sldId id="262" r:id="rId6"/>
    <p:sldId id="264" r:id="rId7"/>
    <p:sldId id="266" r:id="rId8"/>
    <p:sldId id="267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340" autoAdjust="0"/>
  </p:normalViewPr>
  <p:slideViewPr>
    <p:cSldViewPr snapToGrid="0" snapToObjects="1">
      <p:cViewPr varScale="1">
        <p:scale>
          <a:sx n="63" d="100"/>
          <a:sy n="63" d="100"/>
        </p:scale>
        <p:origin x="145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9455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/ framing slide. State the two-part goal up front: (1) predict End-Of-Line sorting yield accurately, and (2) discover and statistically validate WHICH process/ET parameters and combinations actually drive that yield. Everything in this deck traces back to those two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Two-part system. Stage 1 is a closed, conventional supervised-learning problem: predict a continuous target. Stage 2 is the harder, more novel part: move beyond prediction toward causally-suggestive, statistically validated relationship discovery -- single-parameter shapes, 2-way interactions, 3-way interactions -- each with a confidence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answers the inevitable question 'why isn't column X in the model?' Every exclusion here is evidence-based (correlation coefficients, exact duplication, or a derived-ratio check) -- verifiable directly from the raw CSV, not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left to right. This is a conventional, disciplined supervised-learning pipeline -- the novelty in this project is less the pipeline shape and more the rigor applied at every step (leakage-safe, grouped, engineered-features-excluded, fairly-compared).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RMSE/MAE/R2 are the standard regression metrics (formulas recap on a later slide). The headline: ElasticNet -- a comparatively simple, LINEAR model -- outperforms both tree-based models here, is the most stable across repeated holdouts, and shows the cleanest collapse under target shuffling. This is a meaningful, evidence-based result, not a default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map for the rest of the deck. Two rows: top row is the 'characterize what a single model already knows' phase; bottom row is the 'explicitly go looking for interactions and statistically prove them' phase, culminating in the newest component, the Relationship Validation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 credibility point: we did not just try methods that worked and hide the ones that didn't. MLP and EBM were both tried in good faith as complementary relationship detectors, both were rigorously negative-control-tested exactly like every other method, and both failed that test for interaction detection specifically -- so they are explicitly excluded from the trusted evidence base. This is a feature of the project's rigor, not a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vocabulary the rest of the results slides rely on. The two ideas worth emphasizing to a non-ML audience: (1) negative controls -- we deliberately try to fool the method with randomized data and require it to fail; (2) FDR -- with thousands of simultaneous tests, some 'discoveries' are expected by pure chance, and FDR is the formal accounting for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newest, most statistically rigorous layer of Stage 2. Unlike every earlier checkpoint, it computes genuine empirical p-values (from real permutation testing, not approximations) and applies formal FDR control. It passed its own calibration gate cleanly on all three relationship families -- this is a meaningfully stronger evidence bar than anything used earlier 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roadmap, not just the status. Stage 1 is done. Stage 2's discovery/validation machinery is mature and has passed its own calibration checks; the next gate is an independent methodology audit of the newest engine, and only after that passes does the project move to ground-truth validation. The end deliverable is not a model -- it's an actionable engineering report engineers can use directly on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2B922C4-427F-9069-6EFF-10E38120C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D7BAA6-B312-D967-F8CE-845C3076E042}"/>
              </a:ext>
            </a:extLst>
          </p:cNvPr>
          <p:cNvSpPr txBox="1"/>
          <p:nvPr/>
        </p:nvSpPr>
        <p:spPr>
          <a:xfrm>
            <a:off x="929640" y="5177790"/>
            <a:ext cx="2293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D8DEE8"/>
                </a:solidFill>
              </a:rPr>
              <a:t>Boaz </a:t>
            </a:r>
            <a:r>
              <a:rPr lang="en-US" dirty="0" err="1">
                <a:solidFill>
                  <a:srgbClr val="D8DEE8"/>
                </a:solidFill>
              </a:rPr>
              <a:t>Kalderon</a:t>
            </a:r>
            <a:endParaRPr lang="en-US" dirty="0">
              <a:solidFill>
                <a:srgbClr val="D8DEE8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D8DEE8"/>
                </a:solidFill>
              </a:rPr>
              <a:t>Yulia Kucher</a:t>
            </a: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D8DEE8"/>
                </a:solidFill>
              </a:rPr>
              <a:t>Linoy Halifa</a:t>
            </a:r>
          </a:p>
          <a:p>
            <a:endParaRPr lang="en-I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8A2C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System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B8C2D0"/>
                </a:solidFill>
                <a:latin typeface="Calibri"/>
              </a:rPr>
              <a:t>3/15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20640" cy="3017520"/>
          </a:xfrm>
          <a:prstGeom prst="roundRect">
            <a:avLst/>
          </a:prstGeom>
          <a:solidFill>
            <a:srgbClr val="2E5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r>
              <a:rPr sz="1400" b="1">
                <a:solidFill>
                  <a:srgbClr val="C98A2C"/>
                </a:solidFill>
              </a:rPr>
              <a:t>STAGE 1</a:t>
            </a:r>
          </a:p>
          <a:p>
            <a:pPr>
              <a:spcBef>
                <a:spcPts val="400"/>
              </a:spcBef>
            </a:pPr>
            <a:r>
              <a:rPr sz="2100" b="1">
                <a:solidFill>
                  <a:srgbClr val="FFFFFF"/>
                </a:solidFill>
              </a:rPr>
              <a:t>Yield Prediction Engine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E8EEF4"/>
                </a:solidFill>
              </a:rPr>
              <a:t>Predict SortingYield as accurately and reliably as possible from leakage-free process/ET predictors, using grouped, leakage-safe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120640" cy="3017520"/>
          </a:xfrm>
          <a:prstGeom prst="roundRect">
            <a:avLst/>
          </a:prstGeom>
          <a:solidFill>
            <a:srgbClr val="2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r>
              <a:rPr sz="1400" b="1">
                <a:solidFill>
                  <a:srgbClr val="C98A2C"/>
                </a:solidFill>
              </a:rPr>
              <a:t>STAGE 2</a:t>
            </a:r>
          </a:p>
          <a:p>
            <a:pPr>
              <a:spcBef>
                <a:spcPts val="400"/>
              </a:spcBef>
            </a:pPr>
            <a:r>
              <a:rPr sz="2100" b="1">
                <a:solidFill>
                  <a:srgbClr val="FFFFFF"/>
                </a:solidFill>
              </a:rPr>
              <a:t>Relationship Discovery &amp; Validation Engine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E8EEF4"/>
                </a:solidFill>
              </a:rPr>
              <a:t>Discover and statistically VALIDATE which single parameters, pairs, and triples of parameters actually explain yield behavior -- with shapes, thresholds, and confidence levels engineers can act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5A6370"/>
                </a:solidFill>
                <a:latin typeface="Calibri"/>
              </a:rPr>
              <a:t>Stage 1 answers "what will the yield be?" Stage 2 answers "why -- and which knobs, thresholds, and combinations actually matter?" Both stages share the same leakage-safe, LotName-grouped validation discipline.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70"/>
                </a:solidFill>
                <a:latin typeface="Calibri"/>
              </a:rPr>
              <a:t>YieldMindX -- AI-Based Correlation Engine for EOL Yield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8A2C"/>
                </a:solidFill>
                <a:latin typeface="Calibri"/>
              </a:rPr>
              <a:t>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Data Leakage and Feature Eligibility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B8C2D0"/>
                </a:solidFill>
                <a:latin typeface="Calibri"/>
              </a:rPr>
              <a:t>5/15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22833"/>
                </a:solidFill>
                <a:latin typeface="Calibri"/>
              </a:rPr>
              <a:t>Some raw columns are other yield roll-ups or values statistically/deterministically derived from the outcome itself -- using them as predictors would let the model "cheat." These are excluded from BOTH stages.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10789920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Excluded column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dirty="0">
                          <a:solidFill>
                            <a:srgbClr val="FFFFFF"/>
                          </a:solidFill>
                        </a:rPr>
                        <a:t>Why it's leakage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222833"/>
                          </a:solidFill>
                        </a:rPr>
                        <a:t>Actual Sorting Yield 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dirty="0">
                          <a:solidFill>
                            <a:srgbClr val="222833"/>
                          </a:solidFill>
                        </a:rPr>
                        <a:t>r = 0.99 with target -- same underlying metric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222833"/>
                          </a:solidFill>
                        </a:rPr>
                        <a:t>TotalYield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dirty="0">
                          <a:solidFill>
                            <a:srgbClr val="222833"/>
                          </a:solidFill>
                        </a:rPr>
                        <a:t>r = 0.92 with target -- rollup that includes it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222833"/>
                          </a:solidFill>
                        </a:rPr>
                        <a:t>EstimatedSupplyChipsCount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dirty="0">
                          <a:solidFill>
                            <a:srgbClr val="222833"/>
                          </a:solidFill>
                        </a:rPr>
                        <a:t>Derived ratio bakes in the yield outcome (r = 0.92)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50" dirty="0" err="1">
                          <a:solidFill>
                            <a:srgbClr val="222833"/>
                          </a:solidFill>
                        </a:rPr>
                        <a:t>LineYield</a:t>
                      </a:r>
                      <a:r>
                        <a:rPr sz="1450" dirty="0">
                          <a:solidFill>
                            <a:srgbClr val="222833"/>
                          </a:solidFill>
                        </a:rPr>
                        <a:t> / </a:t>
                      </a:r>
                      <a:r>
                        <a:rPr sz="1450" dirty="0" err="1">
                          <a:solidFill>
                            <a:srgbClr val="222833"/>
                          </a:solidFill>
                        </a:rPr>
                        <a:t>BackEndYield</a:t>
                      </a:r>
                      <a:r>
                        <a:rPr sz="1450" dirty="0">
                          <a:solidFill>
                            <a:srgbClr val="222833"/>
                          </a:solidFill>
                        </a:rPr>
                        <a:t> / </a:t>
                      </a:r>
                      <a:r>
                        <a:rPr sz="1450" dirty="0" err="1">
                          <a:solidFill>
                            <a:srgbClr val="222833"/>
                          </a:solidFill>
                        </a:rPr>
                        <a:t>VIYield</a:t>
                      </a:r>
                      <a:r>
                        <a:rPr sz="1450" dirty="0">
                          <a:solidFill>
                            <a:srgbClr val="222833"/>
                          </a:solidFill>
                        </a:rPr>
                        <a:t> / </a:t>
                      </a:r>
                      <a:r>
                        <a:rPr sz="1450" dirty="0" err="1">
                          <a:solidFill>
                            <a:srgbClr val="222833"/>
                          </a:solidFill>
                        </a:rPr>
                        <a:t>LTYield</a:t>
                      </a:r>
                      <a:endParaRPr sz="1450" dirty="0">
                        <a:solidFill>
                          <a:srgbClr val="222833"/>
                        </a:solidFill>
                      </a:endParaRP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dirty="0">
                          <a:solidFill>
                            <a:srgbClr val="222833"/>
                          </a:solidFill>
                        </a:rPr>
                        <a:t>Separate downstream yield-stage outputs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5720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▪ Also excluded: metadata/ID/traceability columns (LotName, WaferNum, dates) -- kept only as grouping keys, never as predictors.</a:t>
            </a:r>
          </a:p>
          <a:p>
            <a:pPr marL="0"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▪ Exact-duplicate columns (e.g. MaskSetName_group, a 1:1 duplicate of MaskSetName) are removed.</a:t>
            </a:r>
          </a:p>
          <a:p>
            <a:pPr marL="0"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▪ Every exclusion is justified from evidence found directly in the data (correlation, duplication, derived-ratio checks) -- not from the synthetic ground-truth document, which is deliberately kept out of the discovery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70"/>
                </a:solidFill>
                <a:latin typeface="Calibri"/>
              </a:rPr>
              <a:t>YieldMindX -- AI-Based Correlation Engine for EOL Yield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8A2C"/>
                </a:solidFill>
                <a:latin typeface="Calibri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Stage 1 Pipeline -- Yield Prediction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B8C2D0"/>
                </a:solidFill>
                <a:latin typeface="Calibri"/>
              </a:rPr>
              <a:t>6/15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1691640" cy="1051560"/>
          </a:xfrm>
          <a:prstGeom prst="roundRect">
            <a:avLst/>
          </a:prstGeom>
          <a:solidFill>
            <a:srgbClr val="2E5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Raw data</a:t>
            </a:r>
            <a:br/>
            <a:r>
              <a:rPr sz="1200" b="1">
                <a:solidFill>
                  <a:srgbClr val="FFFFFF"/>
                </a:solidFill>
              </a:rPr>
              <a:t>(1,430 cols)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0"/>
            <a:ext cx="182880" cy="0"/>
          </a:xfrm>
          <a:prstGeom prst="line">
            <a:avLst/>
          </a:prstGeom>
          <a:ln w="28575">
            <a:solidFill>
              <a:srgbClr val="5A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194560"/>
            <a:ext cx="1691640" cy="1051560"/>
          </a:xfrm>
          <a:prstGeom prst="roundRect">
            <a:avLst/>
          </a:prstGeom>
          <a:solidFill>
            <a:srgbClr val="2E5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Leakage &amp;</a:t>
            </a:r>
            <a:br/>
            <a:r>
              <a:rPr sz="1200" b="1">
                <a:solidFill>
                  <a:srgbClr val="FFFFFF"/>
                </a:solidFill>
              </a:rPr>
              <a:t>ID removal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9080" y="0"/>
            <a:ext cx="182880" cy="0"/>
          </a:xfrm>
          <a:prstGeom prst="line">
            <a:avLst/>
          </a:prstGeom>
          <a:ln w="28575">
            <a:solidFill>
              <a:srgbClr val="5A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51960" y="2194560"/>
            <a:ext cx="1691640" cy="1051560"/>
          </a:xfrm>
          <a:prstGeom prst="roundRect">
            <a:avLst/>
          </a:prstGeom>
          <a:solidFill>
            <a:srgbClr val="2E5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Original</a:t>
            </a:r>
            <a:br/>
            <a:r>
              <a:rPr sz="1200" b="1">
                <a:solidFill>
                  <a:srgbClr val="FFFFFF"/>
                </a:solidFill>
              </a:rPr>
              <a:t>predictors only</a:t>
            </a:r>
            <a:br/>
            <a:r>
              <a:rPr sz="1200" b="1">
                <a:solidFill>
                  <a:srgbClr val="FFFFFF"/>
                </a:solidFill>
              </a:rPr>
              <a:t>(1,425)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0"/>
            <a:ext cx="182880" cy="0"/>
          </a:xfrm>
          <a:prstGeom prst="line">
            <a:avLst/>
          </a:prstGeom>
          <a:ln w="28575">
            <a:solidFill>
              <a:srgbClr val="5A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26480" y="2194560"/>
            <a:ext cx="1691640" cy="1051560"/>
          </a:xfrm>
          <a:prstGeom prst="roundRect">
            <a:avLst/>
          </a:prstGeom>
          <a:solidFill>
            <a:srgbClr val="2E5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Feature</a:t>
            </a:r>
            <a:br/>
            <a:r>
              <a:rPr sz="1200" b="1">
                <a:solidFill>
                  <a:srgbClr val="FFFFFF"/>
                </a:solidFill>
              </a:rPr>
              <a:t>selection /</a:t>
            </a:r>
            <a:br/>
            <a:r>
              <a:rPr sz="1200" b="1">
                <a:solidFill>
                  <a:srgbClr val="FFFFFF"/>
                </a:solidFill>
              </a:rPr>
              <a:t>ranking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8120" y="0"/>
            <a:ext cx="182880" cy="0"/>
          </a:xfrm>
          <a:prstGeom prst="line">
            <a:avLst/>
          </a:prstGeom>
          <a:ln w="28575">
            <a:solidFill>
              <a:srgbClr val="5A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01000" y="2194560"/>
            <a:ext cx="1691640" cy="1051560"/>
          </a:xfrm>
          <a:prstGeom prst="roundRect">
            <a:avLst/>
          </a:prstGeom>
          <a:solidFill>
            <a:srgbClr val="2E5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Model</a:t>
            </a:r>
            <a:br/>
            <a:r>
              <a:rPr sz="1200" b="1">
                <a:solidFill>
                  <a:srgbClr val="FFFFFF"/>
                </a:solidFill>
              </a:rPr>
              <a:t>comparison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92640" y="0"/>
            <a:ext cx="182880" cy="0"/>
          </a:xfrm>
          <a:prstGeom prst="line">
            <a:avLst/>
          </a:prstGeom>
          <a:ln w="28575">
            <a:solidFill>
              <a:srgbClr val="5A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75520" y="2194560"/>
            <a:ext cx="1691640" cy="1051560"/>
          </a:xfrm>
          <a:prstGeom prst="roundRect">
            <a:avLst/>
          </a:prstGeom>
          <a:solidFill>
            <a:srgbClr val="2E5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Final model</a:t>
            </a:r>
            <a:br/>
            <a:r>
              <a:rPr sz="1200" b="1">
                <a:solidFill>
                  <a:srgbClr val="FFFFFF"/>
                </a:solidFill>
              </a:rPr>
              <a:t>(ElasticNet)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1400"/>
              </a:spcAft>
            </a:pPr>
            <a:r>
              <a:rPr sz="1600" b="0">
                <a:solidFill>
                  <a:srgbClr val="222833"/>
                </a:solidFill>
                <a:latin typeface="Calibri"/>
              </a:rPr>
              <a:t>▪ Every step respects LotName grouping -- no wafer's lot-mates ever leak across train/validation/holdout.</a:t>
            </a:r>
          </a:p>
          <a:p>
            <a:pPr marL="0">
              <a:spcAft>
                <a:spcPts val="1400"/>
              </a:spcAft>
            </a:pPr>
            <a:r>
              <a:rPr sz="1600" b="0">
                <a:solidFill>
                  <a:srgbClr val="222833"/>
                </a:solidFill>
                <a:latin typeface="Calibri"/>
              </a:rPr>
              <a:t>▪ The 307 engineered features are excluded from this pipeline; feature selection ranks only the 1,425 original raw predictors.</a:t>
            </a:r>
          </a:p>
          <a:p>
            <a:pPr marL="0">
              <a:spcAft>
                <a:spcPts val="1400"/>
              </a:spcAft>
            </a:pPr>
            <a:r>
              <a:rPr sz="1600" b="0">
                <a:solidFill>
                  <a:srgbClr val="222833"/>
                </a:solidFill>
                <a:latin typeface="Calibri"/>
              </a:rPr>
              <a:t>▪ Three model families were compared fairly on the same predictor set and the same splits before selecting a final model (next slide).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70"/>
                </a:solidFill>
                <a:latin typeface="Calibri"/>
              </a:rPr>
              <a:t>YieldMindX -- AI-Based Correlation Engine for EOL Yield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8A2C"/>
                </a:solidFill>
                <a:latin typeface="Calibri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Stage 1 Models and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B8C2D0"/>
                </a:solidFill>
                <a:latin typeface="Calibri"/>
              </a:rPr>
              <a:t>7/15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789920" cy="1554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dirty="0">
                          <a:solidFill>
                            <a:srgbClr val="FFFFFF"/>
                          </a:solidFill>
                        </a:rPr>
                        <a:t>CV RMSE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CV MAE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CV R²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Holdout RMSE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Holdout R²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833"/>
                          </a:solidFill>
                        </a:rPr>
                        <a:t>ElasticNet</a:t>
                      </a:r>
                    </a:p>
                  </a:txBody>
                  <a:tcPr anchor="ctr">
                    <a:solidFill>
                      <a:srgbClr val="E8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22833"/>
                          </a:solidFill>
                        </a:rPr>
                        <a:t>0.189</a:t>
                      </a:r>
                    </a:p>
                  </a:txBody>
                  <a:tcPr anchor="ctr">
                    <a:solidFill>
                      <a:srgbClr val="E8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833"/>
                          </a:solidFill>
                        </a:rPr>
                        <a:t>0.150</a:t>
                      </a:r>
                    </a:p>
                  </a:txBody>
                  <a:tcPr anchor="ctr">
                    <a:solidFill>
                      <a:srgbClr val="E8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833"/>
                          </a:solidFill>
                        </a:rPr>
                        <a:t>0.9927</a:t>
                      </a:r>
                    </a:p>
                  </a:txBody>
                  <a:tcPr anchor="ctr">
                    <a:solidFill>
                      <a:srgbClr val="E8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833"/>
                          </a:solidFill>
                        </a:rPr>
                        <a:t>0.170</a:t>
                      </a:r>
                    </a:p>
                  </a:txBody>
                  <a:tcPr anchor="ctr">
                    <a:solidFill>
                      <a:srgbClr val="E8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833"/>
                          </a:solidFill>
                        </a:rPr>
                        <a:t>0.9943</a:t>
                      </a:r>
                    </a:p>
                  </a:txBody>
                  <a:tcPr anchor="ctr">
                    <a:solidFill>
                      <a:srgbClr val="E8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833"/>
                          </a:solidFill>
                        </a:rPr>
                        <a:t>LightGBM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833"/>
                          </a:solidFill>
                        </a:rPr>
                        <a:t>0.220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833"/>
                          </a:solidFill>
                        </a:rPr>
                        <a:t>0.140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833"/>
                          </a:solidFill>
                        </a:rPr>
                        <a:t>0.9901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833"/>
                          </a:solidFill>
                        </a:rPr>
                        <a:t>0.178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833"/>
                          </a:solidFill>
                        </a:rPr>
                        <a:t>0.9937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833"/>
                          </a:solidFill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833"/>
                          </a:solidFill>
                        </a:rPr>
                        <a:t>0.350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833"/>
                          </a:solidFill>
                        </a:rPr>
                        <a:t>0.253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833"/>
                          </a:solidFill>
                        </a:rPr>
                        <a:t>0.9756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833"/>
                          </a:solidFill>
                        </a:rPr>
                        <a:t>0.234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22833"/>
                          </a:solidFill>
                        </a:rPr>
                        <a:t>0.9891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3154680"/>
            <a:ext cx="10789920" cy="7772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2A4A"/>
                </a:solidFill>
                <a:latin typeface="Calibri"/>
              </a:rPr>
              <a:t>Metric formulas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3872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2E5B88"/>
                </a:solidFill>
                <a:latin typeface="Calibri"/>
              </a:rPr>
              <a:t>R² = 1 − </a:t>
            </a:r>
            <a:r>
              <a:rPr sz="1300" b="0" dirty="0" err="1">
                <a:solidFill>
                  <a:srgbClr val="2E5B88"/>
                </a:solidFill>
                <a:latin typeface="Calibri"/>
              </a:rPr>
              <a:t>SS_res</a:t>
            </a:r>
            <a:r>
              <a:rPr sz="1300" b="0" dirty="0">
                <a:solidFill>
                  <a:srgbClr val="2E5B88"/>
                </a:solidFill>
                <a:latin typeface="Calibri"/>
              </a:rPr>
              <a:t> / </a:t>
            </a:r>
            <a:r>
              <a:rPr sz="1300" b="0" dirty="0" err="1">
                <a:solidFill>
                  <a:srgbClr val="2E5B88"/>
                </a:solidFill>
                <a:latin typeface="Calibri"/>
              </a:rPr>
              <a:t>SS_tot</a:t>
            </a:r>
            <a:r>
              <a:rPr sz="1300" b="0" dirty="0">
                <a:solidFill>
                  <a:srgbClr val="2E5B88"/>
                </a:solidFill>
                <a:latin typeface="Calibri"/>
              </a:rPr>
              <a:t>        RMSE = sqrt( mean( (</a:t>
            </a:r>
            <a:r>
              <a:rPr sz="1300" b="0" dirty="0" err="1">
                <a:solidFill>
                  <a:srgbClr val="2E5B88"/>
                </a:solidFill>
                <a:latin typeface="Calibri"/>
              </a:rPr>
              <a:t>y_true</a:t>
            </a:r>
            <a:r>
              <a:rPr sz="1300" b="0" dirty="0">
                <a:solidFill>
                  <a:srgbClr val="2E5B88"/>
                </a:solidFill>
                <a:latin typeface="Calibri"/>
              </a:rPr>
              <a:t> − </a:t>
            </a:r>
            <a:r>
              <a:rPr sz="1300" b="0" dirty="0" err="1">
                <a:solidFill>
                  <a:srgbClr val="2E5B88"/>
                </a:solidFill>
                <a:latin typeface="Calibri"/>
              </a:rPr>
              <a:t>y_pred</a:t>
            </a:r>
            <a:r>
              <a:rPr sz="1300" b="0" dirty="0">
                <a:solidFill>
                  <a:srgbClr val="2E5B88"/>
                </a:solidFill>
                <a:latin typeface="Calibri"/>
              </a:rPr>
              <a:t>)² ) )        MAE = mean( |</a:t>
            </a:r>
            <a:r>
              <a:rPr sz="1300" b="0" dirty="0" err="1">
                <a:solidFill>
                  <a:srgbClr val="2E5B88"/>
                </a:solidFill>
                <a:latin typeface="Calibri"/>
              </a:rPr>
              <a:t>y_true</a:t>
            </a:r>
            <a:r>
              <a:rPr sz="1300" b="0" dirty="0">
                <a:solidFill>
                  <a:srgbClr val="2E5B88"/>
                </a:solidFill>
                <a:latin typeface="Calibri"/>
              </a:rPr>
              <a:t> − </a:t>
            </a:r>
            <a:r>
              <a:rPr sz="1300" b="0" dirty="0" err="1">
                <a:solidFill>
                  <a:srgbClr val="2E5B88"/>
                </a:solidFill>
                <a:latin typeface="Calibri"/>
              </a:rPr>
              <a:t>y_pred</a:t>
            </a:r>
            <a:r>
              <a:rPr sz="1300" b="0" dirty="0">
                <a:solidFill>
                  <a:srgbClr val="2E5B88"/>
                </a:solidFill>
                <a:latin typeface="Calibri"/>
              </a:rPr>
              <a:t>|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800"/>
              </a:spcAft>
            </a:pPr>
            <a:r>
              <a:rPr sz="1350" b="0">
                <a:solidFill>
                  <a:srgbClr val="222833"/>
                </a:solidFill>
                <a:latin typeface="Calibri"/>
              </a:rPr>
              <a:t>▪ 5-fold grouped cross-validation (by LotName) -- mean across folds.</a:t>
            </a:r>
          </a:p>
          <a:p>
            <a:pPr marL="0">
              <a:spcAft>
                <a:spcPts val="800"/>
              </a:spcAft>
            </a:pPr>
            <a:r>
              <a:rPr sz="1350" b="0">
                <a:solidFill>
                  <a:srgbClr val="222833"/>
                </a:solidFill>
                <a:latin typeface="Calibri"/>
              </a:rPr>
              <a:t>▪ Untouched holdout set, evaluated once at the end.</a:t>
            </a:r>
          </a:p>
          <a:p>
            <a:pPr marL="0">
              <a:spcAft>
                <a:spcPts val="800"/>
              </a:spcAft>
            </a:pPr>
            <a:r>
              <a:rPr sz="1350" b="0">
                <a:solidFill>
                  <a:srgbClr val="222833"/>
                </a:solidFill>
                <a:latin typeface="Calibri"/>
              </a:rPr>
              <a:t>▪ Repeated-holdout stability: ElasticNet had the tightest spread across repeats (RMSE std = 0.008 vs. 0.016-0.018 for the tree models).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11480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800"/>
              </a:spcAft>
            </a:pPr>
            <a:r>
              <a:rPr sz="1350" b="0">
                <a:solidFill>
                  <a:srgbClr val="222833"/>
                </a:solidFill>
                <a:latin typeface="Calibri"/>
              </a:rPr>
              <a:t>▪ Target-shuffle negative control: SortingYield randomly permuted, same pipeline re-run.</a:t>
            </a:r>
          </a:p>
          <a:p>
            <a:pPr marL="0">
              <a:spcAft>
                <a:spcPts val="800"/>
              </a:spcAft>
            </a:pPr>
            <a:r>
              <a:rPr sz="1350" b="0">
                <a:solidFill>
                  <a:srgbClr val="222833"/>
                </a:solidFill>
                <a:latin typeface="Calibri"/>
              </a:rPr>
              <a:t>▪ All three models' shuffled R² collapsed far below their real R² -- no leakage detected.</a:t>
            </a:r>
          </a:p>
          <a:p>
            <a:pPr marL="0">
              <a:spcAft>
                <a:spcPts val="800"/>
              </a:spcAft>
            </a:pPr>
            <a:r>
              <a:rPr sz="1350" b="0">
                <a:solidFill>
                  <a:srgbClr val="222833"/>
                </a:solidFill>
                <a:latin typeface="Calibri"/>
              </a:rPr>
              <a:t>▪ ElasticNet's shuffled R² (-0.002) was the CLEANEST/closest-to-zero of the three.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70"/>
                </a:solidFill>
                <a:latin typeface="Calibri"/>
              </a:rPr>
              <a:t>YieldMindX -- AI-Based Correlation Engine for EOL Yield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8A2C"/>
                </a:solidFill>
                <a:latin typeface="Calibri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Stage 2 Pipeline -- Relationship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B8C2D0"/>
                </a:solidFill>
                <a:latin typeface="Calibri"/>
              </a:rPr>
              <a:t>9/15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2331720" cy="960120"/>
          </a:xfrm>
          <a:prstGeom prst="roundRect">
            <a:avLst/>
          </a:prstGeom>
          <a:solidFill>
            <a:srgbClr val="2E5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Run B feature</a:t>
            </a:r>
            <a:br/>
            <a:r>
              <a:rPr sz="1250" b="1">
                <a:solidFill>
                  <a:srgbClr val="FFFFFF"/>
                </a:solidFill>
              </a:rPr>
              <a:t>universe</a:t>
            </a:r>
            <a:br/>
            <a:r>
              <a:rPr sz="1250" b="1">
                <a:solidFill>
                  <a:srgbClr val="FFFFFF"/>
                </a:solidFill>
              </a:rPr>
              <a:t>(1,425 preds)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0"/>
            <a:ext cx="201168" cy="0"/>
          </a:xfrm>
          <a:prstGeom prst="line">
            <a:avLst/>
          </a:prstGeom>
          <a:ln w="28575">
            <a:solidFill>
              <a:srgbClr val="5A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035808" y="1600200"/>
            <a:ext cx="2331720" cy="960120"/>
          </a:xfrm>
          <a:prstGeom prst="roundRect">
            <a:avLst/>
          </a:prstGeom>
          <a:solidFill>
            <a:srgbClr val="2E5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LightGBM</a:t>
            </a:r>
            <a:br/>
            <a:r>
              <a:rPr sz="1250" b="1">
                <a:solidFill>
                  <a:srgbClr val="FFFFFF"/>
                </a:solidFill>
              </a:rPr>
              <a:t>(global model)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67528" y="0"/>
            <a:ext cx="201168" cy="0"/>
          </a:xfrm>
          <a:prstGeom prst="line">
            <a:avLst/>
          </a:prstGeom>
          <a:ln w="28575">
            <a:solidFill>
              <a:srgbClr val="5A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568696" y="1600200"/>
            <a:ext cx="2331720" cy="960120"/>
          </a:xfrm>
          <a:prstGeom prst="roundRect">
            <a:avLst/>
          </a:prstGeom>
          <a:solidFill>
            <a:srgbClr val="2E5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Spline / GAM</a:t>
            </a:r>
            <a:br/>
            <a:r>
              <a:rPr sz="1250" b="1">
                <a:solidFill>
                  <a:srgbClr val="FFFFFF"/>
                </a:solidFill>
              </a:rPr>
              <a:t>(single-param)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00416" y="0"/>
            <a:ext cx="201168" cy="0"/>
          </a:xfrm>
          <a:prstGeom prst="line">
            <a:avLst/>
          </a:prstGeom>
          <a:ln w="28575">
            <a:solidFill>
              <a:srgbClr val="5A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01584" y="1600200"/>
            <a:ext cx="2331720" cy="960120"/>
          </a:xfrm>
          <a:prstGeom prst="roundRect">
            <a:avLst/>
          </a:prstGeom>
          <a:solidFill>
            <a:srgbClr val="2E5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Cross-stage</a:t>
            </a:r>
            <a:br/>
            <a:r>
              <a:rPr sz="1250" b="1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71800"/>
            <a:ext cx="3200400" cy="960120"/>
          </a:xfrm>
          <a:prstGeom prst="roundRect">
            <a:avLst/>
          </a:prstGeom>
          <a:solidFill>
            <a:srgbClr val="2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Explicit 2-way /</a:t>
            </a:r>
            <a:br/>
            <a:r>
              <a:rPr sz="1250" b="1">
                <a:solidFill>
                  <a:srgbClr val="FFFFFF"/>
                </a:solidFill>
              </a:rPr>
              <a:t>3-way interaction</a:t>
            </a:r>
            <a:br/>
            <a:r>
              <a:rPr sz="1250" b="1">
                <a:solidFill>
                  <a:srgbClr val="FFFFFF"/>
                </a:solidFill>
              </a:rPr>
              <a:t>testing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03320" y="0"/>
            <a:ext cx="228600" cy="0"/>
          </a:xfrm>
          <a:prstGeom prst="line">
            <a:avLst/>
          </a:prstGeom>
          <a:ln w="28575">
            <a:solidFill>
              <a:srgbClr val="5A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31920" y="2971800"/>
            <a:ext cx="3200400" cy="960120"/>
          </a:xfrm>
          <a:prstGeom prst="roundRect">
            <a:avLst/>
          </a:prstGeom>
          <a:solidFill>
            <a:srgbClr val="2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Candidate</a:t>
            </a:r>
            <a:br/>
            <a:r>
              <a:rPr sz="1250" b="1">
                <a:solidFill>
                  <a:srgbClr val="FFFFFF"/>
                </a:solidFill>
              </a:rPr>
              <a:t>generation</a:t>
            </a:r>
            <a:br/>
            <a:r>
              <a:rPr sz="1250" b="1">
                <a:solidFill>
                  <a:srgbClr val="FFFFFF"/>
                </a:solidFill>
              </a:rPr>
              <a:t>V1 -&gt; V5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0" y="0"/>
            <a:ext cx="228600" cy="0"/>
          </a:xfrm>
          <a:prstGeom prst="line">
            <a:avLst/>
          </a:prstGeom>
          <a:ln w="28575">
            <a:solidFill>
              <a:srgbClr val="5A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0920" y="2971800"/>
            <a:ext cx="3200400" cy="960120"/>
          </a:xfrm>
          <a:prstGeom prst="roundRect">
            <a:avLst/>
          </a:prstGeom>
          <a:solidFill>
            <a:srgbClr val="2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Relationship</a:t>
            </a:r>
            <a:br/>
            <a:r>
              <a:rPr sz="1250" b="1">
                <a:solidFill>
                  <a:srgbClr val="FFFFFF"/>
                </a:solidFill>
              </a:rPr>
              <a:t>Validation Engine</a:t>
            </a:r>
            <a:br/>
            <a:r>
              <a:rPr sz="1250" b="1">
                <a:solidFill>
                  <a:srgbClr val="FFFFFF"/>
                </a:solidFill>
              </a:rPr>
              <a:t>(FDR + permutation)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▪ "Run B" = the locked Stage 2 predictor universe: original raw process/ET predictors only, zero engineered features, same leakage exclusions as Stage 1.</a:t>
            </a:r>
          </a:p>
          <a:p>
            <a:pPr marL="0"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▪ Each stage ADDS a complementary lens on the data -- none replaces the previous one; all outputs from every version (V1-V5, MLP, EBM, Relationship Validation Engine) remain frozen and available.</a:t>
            </a:r>
          </a:p>
          <a:p>
            <a:pPr marL="0"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▪ The whole pipeline was built and iteratively improved WITHOUT reading the synthetic ground-truth answer key -- it is used only afterward, for validation.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70"/>
                </a:solidFill>
                <a:latin typeface="Calibri"/>
              </a:rPr>
              <a:t>YieldMindX -- AI-Based Correlation Engine for EOL Yield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8A2C"/>
                </a:solidFill>
                <a:latin typeface="Calibri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Stage 2 Methods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B8C2D0"/>
                </a:solidFill>
                <a:latin typeface="Calibri"/>
              </a:rPr>
              <a:t>11/15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789920" cy="30001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833"/>
                          </a:solidFill>
                        </a:rPr>
                        <a:t>LightGBM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833"/>
                          </a:solidFill>
                        </a:rPr>
                        <a:t>Global nonlinear model; SHAP/gain/permutation importance; base for interaction 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833"/>
                          </a:solidFill>
                        </a:rPr>
                        <a:t>Trusted, in 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833"/>
                          </a:solidFill>
                        </a:rPr>
                        <a:t>Spline / GAM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833"/>
                          </a:solidFill>
                        </a:rPr>
                        <a:t>Model-free single-parameter shape (thresholds, U-shapes, process windows)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833"/>
                          </a:solidFill>
                        </a:rPr>
                        <a:t>Trusted, in use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833"/>
                          </a:solidFill>
                        </a:rPr>
                        <a:t>Explicit 2-way / 3-way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833"/>
                          </a:solidFill>
                        </a:rPr>
                        <a:t>Additive-vs-joint and lower-order-vs-full grouped-CV comparisons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833"/>
                          </a:solidFill>
                        </a:rPr>
                        <a:t>Trusted, in 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833"/>
                          </a:solidFill>
                        </a:rPr>
                        <a:t>Permutation / FDR validation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833"/>
                          </a:solidFill>
                        </a:rPr>
                        <a:t>Genuine statistical significance testing (Relationship Validation Engine)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833"/>
                          </a:solidFill>
                        </a:rPr>
                        <a:t>Trusted, in use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833"/>
                          </a:solidFill>
                        </a:rPr>
                        <a:t>MLP (small neural net)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833"/>
                          </a:solidFill>
                        </a:rPr>
                        <a:t>Tested as a complementary relationship detector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833"/>
                          </a:solidFill>
                        </a:rPr>
                        <a:t>Rejected -- see below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5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833"/>
                          </a:solidFill>
                        </a:rPr>
                        <a:t>EBM (Explainable Boosting Machine)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833"/>
                          </a:solidFill>
                        </a:rPr>
                        <a:t>Tested as a complementary interpretable interaction detector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833"/>
                          </a:solidFill>
                        </a:rPr>
                        <a:t>Rejected -- see below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434840"/>
            <a:ext cx="10789920" cy="1737360"/>
          </a:xfrm>
          <a:prstGeom prst="roundRect">
            <a:avLst/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B53A3A"/>
                </a:solidFill>
                <a:latin typeface="Calibri"/>
              </a:rPr>
              <a:t>MLP and EBM were tested but NOT accepted as trusted relationship detectors: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93776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600"/>
              </a:spcAft>
            </a:pPr>
            <a:r>
              <a:rPr sz="1300" b="0">
                <a:solidFill>
                  <a:srgbClr val="222833"/>
                </a:solidFill>
                <a:latin typeface="Calibri"/>
              </a:rPr>
              <a:t>▪ MLP: overall predictive signal was real (clean shuffle collapse), but its single-feature "importance" evidence did NOT separate from noise under its own negative control (86% of features looked "strong" even on a shuffled target).</a:t>
            </a:r>
          </a:p>
          <a:p>
            <a:pPr marL="0">
              <a:spcAft>
                <a:spcPts val="600"/>
              </a:spcAft>
            </a:pPr>
            <a:r>
              <a:rPr sz="1300" b="0">
                <a:solidFill>
                  <a:srgbClr val="222833"/>
                </a:solidFill>
                <a:latin typeface="Calibri"/>
              </a:rPr>
              <a:t>▪ EBM: main effects were clean and well-calibrated, but its automatic pairwise-interaction selection failed its own negative control (shuffled-target interactions scored ~190x HIGHER than the real ones) -- all 15 EBM-selected interactions were labeled inconclusive.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70"/>
                </a:solidFill>
                <a:latin typeface="Calibri"/>
              </a:rPr>
              <a:t>YieldMindX -- AI-Based Correlation Engine for EOL Yield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8A2C"/>
                </a:solidFill>
                <a:latin typeface="Calibri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Stage 2 Validation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B8C2D0"/>
                </a:solidFill>
                <a:latin typeface="Calibri"/>
              </a:rPr>
              <a:t>12/15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349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1200"/>
              </a:spcAft>
            </a:pPr>
            <a:r>
              <a:rPr sz="1450" b="0">
                <a:solidFill>
                  <a:srgbClr val="222833"/>
                </a:solidFill>
                <a:latin typeface="Calibri"/>
              </a:rPr>
              <a:t>▪ Ground-truth recovery classification (used only in dedicated, after-the-fact validation checkpoints, never during discovery):</a:t>
            </a:r>
          </a:p>
          <a:p>
            <a:pPr marL="274320">
              <a:spcAft>
                <a:spcPts val="1200"/>
              </a:spcAft>
            </a:pPr>
            <a:r>
              <a:rPr sz="1250" b="0">
                <a:solidFill>
                  <a:srgbClr val="222833"/>
                </a:solidFill>
                <a:latin typeface="Calibri"/>
              </a:rPr>
              <a:t>– EXACT / APPROXIMATE / PARTIAL / MISSED / NOT GENERATED</a:t>
            </a:r>
          </a:p>
          <a:p>
            <a:pPr marL="0">
              <a:spcAft>
                <a:spcPts val="1200"/>
              </a:spcAft>
            </a:pPr>
            <a:r>
              <a:rPr sz="1450" b="0">
                <a:solidFill>
                  <a:srgbClr val="222833"/>
                </a:solidFill>
                <a:latin typeface="Calibri"/>
              </a:rPr>
              <a:t>▪ Grouped-fold stability: does the finding reproduce across independent LotName-grouped folds (e.g. improved in 5/5 or 4/5 folds)?</a:t>
            </a:r>
          </a:p>
          <a:p>
            <a:pPr marL="0">
              <a:spcAft>
                <a:spcPts val="1200"/>
              </a:spcAft>
            </a:pPr>
            <a:r>
              <a:rPr sz="1450" b="0">
                <a:solidFill>
                  <a:srgbClr val="222833"/>
                </a:solidFill>
                <a:latin typeface="Calibri"/>
              </a:rPr>
              <a:t>▪ Negative control / target shuffle: does the finding's evidence collapse when SortingYield is randomly shuffled? (It must, or the method isn't trustworthy.)</a:t>
            </a:r>
          </a:p>
          <a:p>
            <a:pPr marL="0">
              <a:spcAft>
                <a:spcPts val="1200"/>
              </a:spcAft>
            </a:pPr>
            <a:r>
              <a:rPr sz="1450" b="0">
                <a:solidFill>
                  <a:srgbClr val="222833"/>
                </a:solidFill>
                <a:latin typeface="Calibri"/>
              </a:rPr>
              <a:t>▪ Benjamini-Hochberg FDR: controls the expected proportion of false discoveries among everything called "significant," across thousands of simultaneous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1732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1200"/>
              </a:spcAft>
            </a:pPr>
            <a:r>
              <a:rPr sz="1450" b="0">
                <a:solidFill>
                  <a:srgbClr val="222833"/>
                </a:solidFill>
                <a:latin typeface="Calibri"/>
              </a:rPr>
              <a:t>▪ Incremental R²: how much additional variance a joint/full model explains beyond the additive/lower-order model -- the core interaction-strength metric.</a:t>
            </a:r>
          </a:p>
          <a:p>
            <a:pPr marL="0">
              <a:spcAft>
                <a:spcPts val="1200"/>
              </a:spcAft>
            </a:pPr>
            <a:r>
              <a:rPr sz="1450" b="0">
                <a:solidFill>
                  <a:srgbClr val="222833"/>
                </a:solidFill>
                <a:latin typeface="Calibri"/>
              </a:rPr>
              <a:t>▪ Delta RMSE / delta MAE: the accuracy improvement (or lack of it) from adding an interaction term, under grouped cross-validation.</a:t>
            </a:r>
          </a:p>
          <a:p>
            <a:pPr marL="0">
              <a:spcAft>
                <a:spcPts val="1200"/>
              </a:spcAft>
            </a:pPr>
            <a:r>
              <a:rPr sz="1450" b="0">
                <a:solidFill>
                  <a:srgbClr val="222833"/>
                </a:solidFill>
                <a:latin typeface="Calibri"/>
              </a:rPr>
              <a:t>▪ Coverage: explicitly distinguishes NOT SCREENED / SCREENED BUT NOT PROMOTED / PROMOTED BUT NOT CONFIRMED / CONFIRMED, so "we didn't test it" is never confused with "we tested it and found nothing."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70"/>
                </a:solidFill>
                <a:latin typeface="Calibri"/>
              </a:rPr>
              <a:t>YieldMindX -- AI-Based Correlation Engine for EOL Yield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8A2C"/>
                </a:solidFill>
                <a:latin typeface="Calibri"/>
              </a:rPr>
              <a:t>STAGE 2 -- NEWEST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Relationship Validation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B8C2D0"/>
                </a:solidFill>
                <a:latin typeface="Calibri"/>
              </a:rPr>
              <a:t>14/15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222833"/>
                </a:solidFill>
                <a:latin typeface="Calibri"/>
              </a:rPr>
              <a:t>A new, complementary component whose job is to directly and STATISTICALLY validate relationships -- not just discover candidates.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2057400" cy="1051560"/>
          </a:xfrm>
          <a:prstGeom prst="roundRect">
            <a:avLst/>
          </a:prstGeom>
          <a:solidFill>
            <a:srgbClr val="2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Single-feature</a:t>
            </a:r>
            <a:br/>
            <a:r>
              <a:rPr sz="1200" b="1">
                <a:solidFill>
                  <a:srgbClr val="FFFFFF"/>
                </a:solidFill>
              </a:rPr>
              <a:t>validation</a:t>
            </a:r>
            <a:br/>
            <a:r>
              <a:rPr sz="1200" b="1">
                <a:solidFill>
                  <a:srgbClr val="FFFFFF"/>
                </a:solidFill>
              </a:rPr>
              <a:t>(baseline vs</a:t>
            </a:r>
            <a:br/>
            <a:r>
              <a:rPr sz="1200" b="1">
                <a:solidFill>
                  <a:srgbClr val="FFFFFF"/>
                </a:solidFill>
              </a:rPr>
              <a:t>nonlinear)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0"/>
            <a:ext cx="164592" cy="0"/>
          </a:xfrm>
          <a:prstGeom prst="line">
            <a:avLst/>
          </a:prstGeom>
          <a:ln w="28575">
            <a:solidFill>
              <a:srgbClr val="5A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24912" y="2057400"/>
            <a:ext cx="2057400" cy="1051560"/>
          </a:xfrm>
          <a:prstGeom prst="roundRect">
            <a:avLst/>
          </a:prstGeom>
          <a:solidFill>
            <a:srgbClr val="2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2-way:</a:t>
            </a:r>
            <a:br/>
            <a:r>
              <a:rPr sz="1200" b="1">
                <a:solidFill>
                  <a:srgbClr val="FFFFFF"/>
                </a:solidFill>
              </a:rPr>
              <a:t>ADD vs JOINT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82312" y="0"/>
            <a:ext cx="164592" cy="0"/>
          </a:xfrm>
          <a:prstGeom prst="line">
            <a:avLst/>
          </a:prstGeom>
          <a:ln w="28575">
            <a:solidFill>
              <a:srgbClr val="5A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46904" y="2057400"/>
            <a:ext cx="2057400" cy="1051560"/>
          </a:xfrm>
          <a:prstGeom prst="roundRect">
            <a:avLst/>
          </a:prstGeom>
          <a:solidFill>
            <a:srgbClr val="2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3-way:</a:t>
            </a:r>
            <a:br/>
            <a:r>
              <a:rPr sz="1200" b="1">
                <a:solidFill>
                  <a:srgbClr val="FFFFFF"/>
                </a:solidFill>
              </a:rPr>
              <a:t>lower-order</a:t>
            </a:r>
            <a:br/>
            <a:r>
              <a:rPr sz="1200" b="1">
                <a:solidFill>
                  <a:srgbClr val="FFFFFF"/>
                </a:solidFill>
              </a:rPr>
              <a:t>vs full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04304" y="0"/>
            <a:ext cx="164592" cy="0"/>
          </a:xfrm>
          <a:prstGeom prst="line">
            <a:avLst/>
          </a:prstGeom>
          <a:ln w="28575">
            <a:solidFill>
              <a:srgbClr val="5A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68896" y="2057400"/>
            <a:ext cx="2057400" cy="1051560"/>
          </a:xfrm>
          <a:prstGeom prst="roundRect">
            <a:avLst/>
          </a:prstGeom>
          <a:solidFill>
            <a:srgbClr val="2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Permutation</a:t>
            </a:r>
            <a:br/>
            <a:r>
              <a:rPr sz="1200" b="1">
                <a:solidFill>
                  <a:srgbClr val="FFFFFF"/>
                </a:solidFill>
              </a:rPr>
              <a:t>empirical</a:t>
            </a:r>
            <a:br/>
            <a:r>
              <a:rPr sz="1200" b="1">
                <a:solidFill>
                  <a:srgbClr val="FFFFFF"/>
                </a:solidFill>
              </a:rPr>
              <a:t>p-values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26296" y="0"/>
            <a:ext cx="164592" cy="0"/>
          </a:xfrm>
          <a:prstGeom prst="line">
            <a:avLst/>
          </a:prstGeom>
          <a:ln w="28575">
            <a:solidFill>
              <a:srgbClr val="5A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90888" y="2057400"/>
            <a:ext cx="2057400" cy="1051560"/>
          </a:xfrm>
          <a:prstGeom prst="roundRect">
            <a:avLst/>
          </a:prstGeom>
          <a:solidFill>
            <a:srgbClr val="2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Benjamini-</a:t>
            </a:r>
            <a:br/>
            <a:r>
              <a:rPr sz="1200" b="1">
                <a:solidFill>
                  <a:srgbClr val="FFFFFF"/>
                </a:solidFill>
              </a:rPr>
              <a:t>Hochberg FDR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" y="3429000"/>
          <a:ext cx="6675120" cy="1600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Hypotheses tested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Survive FDR (q≤0.05)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22833"/>
                          </a:solidFill>
                        </a:rPr>
                        <a:t>Single-parameter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22833"/>
                          </a:solidFill>
                        </a:rPr>
                        <a:t>1,405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22833"/>
                          </a:solidFill>
                        </a:rPr>
                        <a:t>1,109 (78.9%)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22833"/>
                          </a:solidFill>
                        </a:rPr>
                        <a:t>2-way interactions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22833"/>
                          </a:solidFill>
                        </a:rPr>
                        <a:t>6,677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22833"/>
                          </a:solidFill>
                        </a:rPr>
                        <a:t>6,591 (98.7%)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222833"/>
                          </a:solidFill>
                        </a:rPr>
                        <a:t>3-way interactions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22833"/>
                          </a:solidFill>
                        </a:rPr>
                        <a:t>13,064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222833"/>
                          </a:solidFill>
                        </a:rPr>
                        <a:t>12,265 (93.9%)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498079" y="3429000"/>
            <a:ext cx="3931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800"/>
              </a:spcAft>
            </a:pPr>
            <a:r>
              <a:rPr sz="1300" b="0">
                <a:solidFill>
                  <a:srgbClr val="222833"/>
                </a:solidFill>
                <a:latin typeface="Calibri"/>
              </a:rPr>
              <a:t>▪ Every LotName-grouped fold is used for stability, not just accuracy.</a:t>
            </a:r>
          </a:p>
          <a:p>
            <a:pPr marL="0">
              <a:spcAft>
                <a:spcPts val="800"/>
              </a:spcAft>
            </a:pPr>
            <a:r>
              <a:rPr sz="1300" b="0">
                <a:solidFill>
                  <a:srgbClr val="222833"/>
                </a:solidFill>
                <a:latin typeface="Calibri"/>
              </a:rPr>
              <a:t>▪ Negative control: real-target discovery rate vs. shuffled-target rate, checked for ALL three families.</a:t>
            </a:r>
          </a:p>
          <a:p>
            <a:pPr marL="0">
              <a:spcAft>
                <a:spcPts val="800"/>
              </a:spcAft>
            </a:pPr>
            <a:r>
              <a:rPr sz="1300" b="0">
                <a:solidFill>
                  <a:srgbClr val="222833"/>
                </a:solidFill>
                <a:latin typeface="Calibri"/>
              </a:rPr>
              <a:t>▪ Calibration gate: PASS across all three families -- shuffled-target findings collapsed to 2-6% of the real rate.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70"/>
                </a:solidFill>
                <a:latin typeface="Calibri"/>
              </a:rPr>
              <a:t>YieldMindX -- AI-Based Correlation Engine for EOL Yield Optimization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8A2C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Current Status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B8C2D0"/>
                </a:solidFill>
                <a:latin typeface="Calibri"/>
              </a:rPr>
              <a:t>15/15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212080" cy="1005840"/>
          </a:xfrm>
          <a:prstGeom prst="roundRect">
            <a:avLst/>
          </a:prstGeom>
          <a:solidFill>
            <a:srgbClr val="E8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8C5E"/>
                </a:solidFill>
                <a:latin typeface="Calibri"/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833"/>
                </a:solidFill>
                <a:latin typeface="Calibri"/>
              </a:rPr>
              <a:t>CLOSED -- production-grade accuracy, validated, no further prediction-model work planned.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371600"/>
            <a:ext cx="5349240" cy="1005840"/>
          </a:xfrm>
          <a:prstGeom prst="roundRect">
            <a:avLst/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48132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8A2C"/>
                </a:solidFill>
                <a:latin typeface="Calibri"/>
              </a:rP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833"/>
                </a:solidFill>
                <a:latin typeface="Calibri"/>
              </a:rPr>
              <a:t>STILL UNDER DEVELOPMENT -- discovery and confirmation methods are mature; coverage of a few specific combinations remains open.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2A4A"/>
                </a:solidFill>
                <a:latin typeface="Calibri"/>
              </a:rPr>
              <a:t>Next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63240"/>
            <a:ext cx="3291840" cy="960120"/>
          </a:xfrm>
          <a:prstGeom prst="roundRect">
            <a:avLst/>
          </a:prstGeom>
          <a:solidFill>
            <a:srgbClr val="2E5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Methodology audit of</a:t>
            </a:r>
            <a:br/>
            <a:r>
              <a:rPr sz="1300" b="1">
                <a:solidFill>
                  <a:srgbClr val="FFFFFF"/>
                </a:solidFill>
              </a:rPr>
              <a:t>the Relationship</a:t>
            </a:r>
            <a:br/>
            <a:r>
              <a:rPr sz="1300" b="1">
                <a:solidFill>
                  <a:srgbClr val="FFFFFF"/>
                </a:solidFill>
              </a:rPr>
              <a:t>Validation Engine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0"/>
            <a:ext cx="320040" cy="0"/>
          </a:xfrm>
          <a:prstGeom prst="line">
            <a:avLst/>
          </a:prstGeom>
          <a:ln w="28575">
            <a:solidFill>
              <a:srgbClr val="5A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51960" y="3063240"/>
            <a:ext cx="3291840" cy="960120"/>
          </a:xfrm>
          <a:prstGeom prst="roundRect">
            <a:avLst/>
          </a:prstGeom>
          <a:solidFill>
            <a:srgbClr val="2E5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If audit passes:</a:t>
            </a:r>
            <a:br/>
            <a:r>
              <a:rPr sz="1300" b="1">
                <a:solidFill>
                  <a:srgbClr val="FFFFFF"/>
                </a:solidFill>
              </a:rPr>
              <a:t>ground-truth</a:t>
            </a:r>
            <a:br/>
            <a:r>
              <a:rPr sz="13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2A4A"/>
                </a:solidFill>
                <a:latin typeface="Calibri"/>
              </a:rPr>
              <a:t>Final 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46320"/>
            <a:ext cx="10789920" cy="141732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983480"/>
            <a:ext cx="10332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222833"/>
                </a:solidFill>
                <a:latin typeface="Calibri"/>
              </a:rPr>
              <a:t>A validated engineering relationship report -- process knobs, thresholds and process windows, confirmed interactions, and actionable Golden Routes (condition sets associated with high yield) and Worsen Routes (condition sets associated with low yield) -- delivered with an explicit statistical confidence level for every claim.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70"/>
                </a:solidFill>
                <a:latin typeface="Calibri"/>
              </a:rPr>
              <a:t>YieldMindX -- AI-Based Correlation Engine for EOL Yield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2100</Words>
  <Application>Microsoft Office PowerPoint</Application>
  <PresentationFormat>Widescreen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לינוי חליפה</dc:creator>
  <cp:keywords/>
  <dc:description>generated using python-pptx</dc:description>
  <cp:lastModifiedBy>לינוי חליפה</cp:lastModifiedBy>
  <cp:revision>3</cp:revision>
  <dcterms:created xsi:type="dcterms:W3CDTF">2013-01-27T09:14:16Z</dcterms:created>
  <dcterms:modified xsi:type="dcterms:W3CDTF">2026-09-16T05:15:53Z</dcterms:modified>
  <cp:category/>
</cp:coreProperties>
</file>