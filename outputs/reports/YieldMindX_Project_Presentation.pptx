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 framing slide. State the two-part goal up front: (1) predict End-Of-Line sorting yield accurately, and (2) discover and statistically validate WHICH process/ET parameters and combinations actually drive that yield. Everything in this deck traces back to those two goals.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pain point: yield is a LATE, lagging signal. By the time SortingYield is measured, the wafer has already been through the full process. If we can predict yield early AND explain which parameters/combinations drive it, engineers can intervene upstream instead of discovering problems at the very 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Two-part system. Stage 1 is a closed, conventional supervised-learning problem: predict a continuous target. Stage 2 is the harder, more novel part: move beyond prediction toward causally-suggestive, statistically validated relationship discovery -- single-parameter shapes, 2-way interactions, 3-way interactions -- each with a confidence label.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the exclusion of the 307 engineered features from the CURRENT official numbers -- this was a deliberate methodology choice to keep the headline results interpretable in terms of raw, physically meaningful measurements; the engineered features remain available for a future checkpoint if needed. Also stress LotName grouping -- it's the backbone of every validation number in this deck.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the inevitable question 'why isn't column X in the model?' Every exclusion here is evidence-based (correlation coefficients, exact duplication, or a derived-ratio check) -- verifiable directly from the raw CSV, not assumed.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This is a conventional, disciplined supervised-learning pipeline -- the novelty in this project is less the pipeline shape and more the rigor applied at every step (leakage-safe, grouped, engineered-features-excluded, fairly-compared).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RMSE/MAE/R2 are the standard regression metrics (formulas recap on a later slide). The headline: ElasticNet -- a comparatively simple, LINEAR model -- outperforms both tree-based models here, is the most stable across repeated holdouts, and shows the cleanest collapse under target shuffling. This is a meaningful, evidence-based result, not a default choice.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1 is done. Four independent lines of evidence (accuracy, stability, shuffle-test, and consistent model selection) all point the same direction. This closure is what freed up the project to invest fully in the harder Stage 2 relationship-discovery problem.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map for the rest of the deck. Two rows: top row is the 'characterize what a single model already knows' phase; bottom row is the 'explicitly go looking for interactions and statistically prove them' phase, culminating in the newest component, the Relationship Validation Engine.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conceptual pivot of the whole deck. Prediction (Y~f(X)) answers 'what will happen.' Everything below it is about answering 'why' in an explicit, testable way -- and each row is a genuinely different, formally-tested hypothesis, not just a looser version of the same thing.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credibility point: we did not just try methods that worked and hide the ones that didn't. MLP and EBM were both tried in good faith as complementary relationship detectors, both were rigorously negative-control-tested exactly like every other method, and both failed that test for interaction detection specifically -- so they are explicitly excluded from the trusted evidence base. This is a feature of the project's rigor, not a gap.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vocabulary the rest of the results slides rely on. The two ideas worth emphasizing to a non-ML audience: (1) negative controls -- we deliberately try to fool the method with randomized data and require it to fail; (2) FDR -- with thousands of simultaneous tests, some 'discoveries' are expected by pure chance, and FDR is the formal accounting for that.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honestly: the system is not missing signal, it is missing COVERAGE for two specific, already-partially-confirmed relationships. This distinction (confirmation power vs. candidate generation) is the single most important diagnostic conclusion of the whole Stage 2 effort so far, and it directly motivates the Relationship Validation Engine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newest, most statistically rigorous layer of Stage 2. Unlike every earlier checkpoint, it computes genuine empirical p-values (from real permutation testing, not approximations) and applies formal FDR control. It has since been independently audited (one methodology gap found and fixed, conclusions unchanged) and improved twice on purely generic, ground-truth-free grounds -- candidate coverage is measurably broader and the interaction score is measurably less noisy, while calibration keeps passing cleanly.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roadmap, not just the status. Stage 1 is done. Since the Relationship Validation Engine was first built, it has been independently audited (passed, one gap fixed), and its candidate generation and interaction scoring were each improved on purely generic, ground-truth-free grounds -- coverage and score quality both measurably improved, calibration kept passing throughout. Ground truth was rechecked twice after these fixes: the numbers held steady, and the remaining gap is now understood precisely as a relative-effect-size ranking issue among many real interactions, not a detection failure. The end deliverable is not a model -- it's an actionable engineering report engineers can use directly on the line.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2331720"/>
            <a:ext cx="12191695" cy="54864"/>
          </a:xfrm>
          <a:prstGeom prst="rect">
            <a:avLst/>
          </a:prstGeom>
          <a:solidFill>
            <a:srgbClr val="C98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14600"/>
            <a:ext cx="10332720" cy="1371600"/>
          </a:xfrm>
          <a:prstGeom prst="rect">
            <a:avLst/>
          </a:prstGeom>
          <a:noFill/>
        </p:spPr>
        <p:txBody>
          <a:bodyPr wrap="square" anchor="t">
            <a:spAutoFit/>
          </a:bodyPr>
          <a:lstStyle/>
          <a:p>
            <a:pPr algn="ctr">
              <a:lnSpc>
                <a:spcPct val="100000"/>
              </a:lnSpc>
            </a:pPr>
            <a:r>
              <a:rPr sz="4800" b="1">
                <a:solidFill>
                  <a:srgbClr val="FFFFFF"/>
                </a:solidFill>
                <a:latin typeface="Calibri"/>
              </a:rPr>
              <a:t>YieldMindX</a:t>
            </a:r>
          </a:p>
        </p:txBody>
      </p:sp>
      <p:sp>
        <p:nvSpPr>
          <p:cNvPr id="4" name="TextBox 3"/>
          <p:cNvSpPr txBox="1"/>
          <p:nvPr/>
        </p:nvSpPr>
        <p:spPr>
          <a:xfrm>
            <a:off x="914400" y="3429000"/>
            <a:ext cx="10332720" cy="822960"/>
          </a:xfrm>
          <a:prstGeom prst="rect">
            <a:avLst/>
          </a:prstGeom>
          <a:noFill/>
        </p:spPr>
        <p:txBody>
          <a:bodyPr wrap="square" anchor="t">
            <a:spAutoFit/>
          </a:bodyPr>
          <a:lstStyle/>
          <a:p>
            <a:pPr algn="ctr">
              <a:lnSpc>
                <a:spcPct val="100000"/>
              </a:lnSpc>
            </a:pPr>
            <a:r>
              <a:rPr sz="2200" b="0">
                <a:solidFill>
                  <a:srgbClr val="D8DEE8"/>
                </a:solidFill>
                <a:latin typeface="Calibri"/>
              </a:rPr>
              <a:t>AI-Based Correlation Engine for EOL Yield Optimization</a:t>
            </a:r>
          </a:p>
        </p:txBody>
      </p:sp>
      <p:sp>
        <p:nvSpPr>
          <p:cNvPr id="5" name="TextBox 4"/>
          <p:cNvSpPr txBox="1"/>
          <p:nvPr/>
        </p:nvSpPr>
        <p:spPr>
          <a:xfrm>
            <a:off x="914400" y="5120640"/>
            <a:ext cx="10332720" cy="457200"/>
          </a:xfrm>
          <a:prstGeom prst="rect">
            <a:avLst/>
          </a:prstGeom>
          <a:noFill/>
        </p:spPr>
        <p:txBody>
          <a:bodyPr wrap="square" anchor="t">
            <a:spAutoFit/>
          </a:bodyPr>
          <a:lstStyle/>
          <a:p>
            <a:pPr algn="ctr">
              <a:lnSpc>
                <a:spcPct val="100000"/>
              </a:lnSpc>
            </a:pPr>
            <a:r>
              <a:rPr sz="1400" b="0">
                <a:solidFill>
                  <a:srgbClr val="A9B4C4"/>
                </a:solidFill>
                <a:latin typeface="Calibri"/>
              </a:rPr>
              <a:t>Project summary -- Stage 1 (Yield Prediction) and Stage 2 (Relationship Discovery &amp; Validation)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601200" cy="320040"/>
          </a:xfrm>
          <a:prstGeom prst="rect">
            <a:avLst/>
          </a:prstGeom>
          <a:noFill/>
        </p:spPr>
        <p:txBody>
          <a:bodyPr wrap="square" anchor="t">
            <a:spAutoFit/>
          </a:bodyPr>
          <a:lstStyle/>
          <a:p>
            <a:pPr algn="l">
              <a:lnSpc>
                <a:spcPct val="100000"/>
              </a:lnSpc>
            </a:pPr>
            <a:r>
              <a:rPr sz="1300" b="1">
                <a:solidFill>
                  <a:srgbClr val="C98A2C"/>
                </a:solidFill>
                <a:latin typeface="Calibri"/>
              </a:rPr>
              <a:t>BACKGROUND</a:t>
            </a:r>
          </a:p>
        </p:txBody>
      </p:sp>
      <p:sp>
        <p:nvSpPr>
          <p:cNvPr id="4" name="TextBox 3"/>
          <p:cNvSpPr txBox="1"/>
          <p:nvPr/>
        </p:nvSpPr>
        <p:spPr>
          <a:xfrm>
            <a:off x="502920" y="384048"/>
            <a:ext cx="10515600" cy="594360"/>
          </a:xfrm>
          <a:prstGeom prst="rect">
            <a:avLst/>
          </a:prstGeom>
          <a:noFill/>
        </p:spPr>
        <p:txBody>
          <a:bodyPr wrap="square" anchor="t">
            <a:spAutoFit/>
          </a:bodyPr>
          <a:lstStyle/>
          <a:p>
            <a:pPr algn="l">
              <a:lnSpc>
                <a:spcPct val="100000"/>
              </a:lnSpc>
            </a:pPr>
            <a:r>
              <a:rPr sz="2700" b="1">
                <a:solidFill>
                  <a:srgbClr val="FFFFFF"/>
                </a:solidFill>
                <a:latin typeface="Calibri"/>
              </a:rPr>
              <a:t>Project Motivation</a:t>
            </a:r>
          </a:p>
        </p:txBody>
      </p:sp>
      <p:sp>
        <p:nvSpPr>
          <p:cNvPr id="5" name="TextBox 4"/>
          <p:cNvSpPr txBox="1"/>
          <p:nvPr/>
        </p:nvSpPr>
        <p:spPr>
          <a:xfrm>
            <a:off x="11292840" y="384048"/>
            <a:ext cx="731520" cy="365760"/>
          </a:xfrm>
          <a:prstGeom prst="rect">
            <a:avLst/>
          </a:prstGeom>
          <a:noFill/>
        </p:spPr>
        <p:txBody>
          <a:bodyPr wrap="square" anchor="t">
            <a:spAutoFit/>
          </a:bodyPr>
          <a:lstStyle/>
          <a:p>
            <a:pPr algn="r">
              <a:lnSpc>
                <a:spcPct val="100000"/>
              </a:lnSpc>
            </a:pPr>
            <a:r>
              <a:rPr sz="1300" b="0">
                <a:solidFill>
                  <a:srgbClr val="B8C2D0"/>
                </a:solidFill>
                <a:latin typeface="Calibri"/>
              </a:rPr>
              <a:t>2/15</a:t>
            </a:r>
          </a:p>
        </p:txBody>
      </p:sp>
      <p:sp>
        <p:nvSpPr>
          <p:cNvPr id="6" name="TextBox 5"/>
          <p:cNvSpPr txBox="1"/>
          <p:nvPr/>
        </p:nvSpPr>
        <p:spPr>
          <a:xfrm>
            <a:off x="640080" y="1417320"/>
            <a:ext cx="6035040" cy="4389120"/>
          </a:xfrm>
          <a:prstGeom prst="rect">
            <a:avLst/>
          </a:prstGeom>
          <a:noFill/>
        </p:spPr>
        <p:txBody>
          <a:bodyPr wrap="square">
            <a:spAutoFit/>
          </a:bodyPr>
          <a:lstStyle/>
          <a:p>
            <a:pPr marL="0">
              <a:spcAft>
                <a:spcPts val="1600"/>
              </a:spcAft>
            </a:pPr>
            <a:r>
              <a:rPr sz="1600" b="0">
                <a:solidFill>
                  <a:srgbClr val="222833"/>
                </a:solidFill>
                <a:latin typeface="Calibri"/>
              </a:rPr>
              <a:t>▪ EOL (End-Of-Line) SortingYield is only known at the very end of the production flow -- long after the process/ET (electrical test) steps that actually determined it.</a:t>
            </a:r>
          </a:p>
          <a:p>
            <a:pPr marL="0">
              <a:spcAft>
                <a:spcPts val="1600"/>
              </a:spcAft>
            </a:pPr>
            <a:r>
              <a:rPr sz="1600" b="0">
                <a:solidFill>
                  <a:srgbClr val="222833"/>
                </a:solidFill>
                <a:latin typeface="Calibri"/>
              </a:rPr>
              <a:t>▪ Hundreds of process and electrical-test parameters are recorded per wafer, but only a small subset genuinely drives yield.</a:t>
            </a:r>
          </a:p>
          <a:p>
            <a:pPr marL="0">
              <a:spcAft>
                <a:spcPts val="1600"/>
              </a:spcAft>
            </a:pPr>
            <a:r>
              <a:rPr sz="1600" b="0">
                <a:solidFill>
                  <a:srgbClr val="222833"/>
                </a:solidFill>
                <a:latin typeface="Calibri"/>
              </a:rPr>
              <a:t>▪ Today, engineers search for root causes largely by manual correlation review and domain intuition -- slow, and easy to miss real multi-parameter (2-way / 3-way) interactions.</a:t>
            </a:r>
          </a:p>
          <a:p>
            <a:pPr marL="0">
              <a:spcAft>
                <a:spcPts val="1600"/>
              </a:spcAft>
            </a:pPr>
            <a:r>
              <a:rPr sz="1600" b="0">
                <a:solidFill>
                  <a:srgbClr val="222833"/>
                </a:solidFill>
                <a:latin typeface="Calibri"/>
              </a:rPr>
              <a:t>▪ Business need: an automated, statistically defensible system that (a) predicts yield early and (b) tells engineers WHICH knobs and combinations matter, with a process window / threshold they can act on.</a:t>
            </a:r>
          </a:p>
        </p:txBody>
      </p:sp>
      <p:sp>
        <p:nvSpPr>
          <p:cNvPr id="7" name="Rounded Rectangle 6"/>
          <p:cNvSpPr/>
          <p:nvPr/>
        </p:nvSpPr>
        <p:spPr>
          <a:xfrm>
            <a:off x="7040880" y="1554480"/>
            <a:ext cx="2103120" cy="118872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0" y="1664208"/>
            <a:ext cx="2103120" cy="502920"/>
          </a:xfrm>
          <a:prstGeom prst="rect">
            <a:avLst/>
          </a:prstGeom>
          <a:noFill/>
        </p:spPr>
        <p:txBody>
          <a:bodyPr wrap="square" anchor="t">
            <a:spAutoFit/>
          </a:bodyPr>
          <a:lstStyle/>
          <a:p>
            <a:pPr algn="ctr">
              <a:lnSpc>
                <a:spcPct val="100000"/>
              </a:lnSpc>
            </a:pPr>
            <a:r>
              <a:rPr sz="2600" b="1">
                <a:solidFill>
                  <a:srgbClr val="2E5B88"/>
                </a:solidFill>
                <a:latin typeface="Calibri"/>
              </a:rPr>
              <a:t>1,500</a:t>
            </a:r>
          </a:p>
        </p:txBody>
      </p:sp>
      <p:sp>
        <p:nvSpPr>
          <p:cNvPr id="9" name="TextBox 8"/>
          <p:cNvSpPr txBox="1"/>
          <p:nvPr/>
        </p:nvSpPr>
        <p:spPr>
          <a:xfrm>
            <a:off x="7132320" y="2286000"/>
            <a:ext cx="1920240" cy="411480"/>
          </a:xfrm>
          <a:prstGeom prst="rect">
            <a:avLst/>
          </a:prstGeom>
          <a:noFill/>
        </p:spPr>
        <p:txBody>
          <a:bodyPr wrap="square" anchor="t">
            <a:spAutoFit/>
          </a:bodyPr>
          <a:lstStyle/>
          <a:p>
            <a:pPr algn="ctr">
              <a:lnSpc>
                <a:spcPct val="100000"/>
              </a:lnSpc>
            </a:pPr>
            <a:r>
              <a:rPr sz="1150" b="0">
                <a:solidFill>
                  <a:srgbClr val="5A6370"/>
                </a:solidFill>
                <a:latin typeface="Calibri"/>
              </a:rPr>
              <a:t>wafers in the dataset</a:t>
            </a:r>
          </a:p>
        </p:txBody>
      </p:sp>
      <p:sp>
        <p:nvSpPr>
          <p:cNvPr id="10" name="Rounded Rectangle 9"/>
          <p:cNvSpPr/>
          <p:nvPr/>
        </p:nvSpPr>
        <p:spPr>
          <a:xfrm>
            <a:off x="7040880" y="2880360"/>
            <a:ext cx="2103120" cy="118872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0" y="2990088"/>
            <a:ext cx="2103120" cy="502920"/>
          </a:xfrm>
          <a:prstGeom prst="rect">
            <a:avLst/>
          </a:prstGeom>
          <a:noFill/>
        </p:spPr>
        <p:txBody>
          <a:bodyPr wrap="square" anchor="t">
            <a:spAutoFit/>
          </a:bodyPr>
          <a:lstStyle/>
          <a:p>
            <a:pPr algn="ctr">
              <a:lnSpc>
                <a:spcPct val="100000"/>
              </a:lnSpc>
            </a:pPr>
            <a:r>
              <a:rPr sz="2600" b="1">
                <a:solidFill>
                  <a:srgbClr val="2E5B88"/>
                </a:solidFill>
                <a:latin typeface="Calibri"/>
              </a:rPr>
              <a:t>100 x 15</a:t>
            </a:r>
          </a:p>
        </p:txBody>
      </p:sp>
      <p:sp>
        <p:nvSpPr>
          <p:cNvPr id="12" name="TextBox 11"/>
          <p:cNvSpPr txBox="1"/>
          <p:nvPr/>
        </p:nvSpPr>
        <p:spPr>
          <a:xfrm>
            <a:off x="7132320" y="3611880"/>
            <a:ext cx="1920240" cy="411480"/>
          </a:xfrm>
          <a:prstGeom prst="rect">
            <a:avLst/>
          </a:prstGeom>
          <a:noFill/>
        </p:spPr>
        <p:txBody>
          <a:bodyPr wrap="square" anchor="t">
            <a:spAutoFit/>
          </a:bodyPr>
          <a:lstStyle/>
          <a:p>
            <a:pPr algn="ctr">
              <a:lnSpc>
                <a:spcPct val="100000"/>
              </a:lnSpc>
            </a:pPr>
            <a:r>
              <a:rPr sz="1150" b="0">
                <a:solidFill>
                  <a:srgbClr val="5A6370"/>
                </a:solidFill>
                <a:latin typeface="Calibri"/>
              </a:rPr>
              <a:t>lots x wafers/lot</a:t>
            </a:r>
          </a:p>
        </p:txBody>
      </p:sp>
      <p:sp>
        <p:nvSpPr>
          <p:cNvPr id="13" name="Rounded Rectangle 12"/>
          <p:cNvSpPr/>
          <p:nvPr/>
        </p:nvSpPr>
        <p:spPr>
          <a:xfrm>
            <a:off x="7040880" y="4206240"/>
            <a:ext cx="2103120" cy="118872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0" y="4315968"/>
            <a:ext cx="2103120" cy="502920"/>
          </a:xfrm>
          <a:prstGeom prst="rect">
            <a:avLst/>
          </a:prstGeom>
          <a:noFill/>
        </p:spPr>
        <p:txBody>
          <a:bodyPr wrap="square" anchor="t">
            <a:spAutoFit/>
          </a:bodyPr>
          <a:lstStyle/>
          <a:p>
            <a:pPr algn="ctr">
              <a:lnSpc>
                <a:spcPct val="100000"/>
              </a:lnSpc>
            </a:pPr>
            <a:r>
              <a:rPr sz="2600" b="1">
                <a:solidFill>
                  <a:srgbClr val="2E5B88"/>
                </a:solidFill>
                <a:latin typeface="Calibri"/>
              </a:rPr>
              <a:t>~1,400</a:t>
            </a:r>
          </a:p>
        </p:txBody>
      </p:sp>
      <p:sp>
        <p:nvSpPr>
          <p:cNvPr id="15" name="TextBox 14"/>
          <p:cNvSpPr txBox="1"/>
          <p:nvPr/>
        </p:nvSpPr>
        <p:spPr>
          <a:xfrm>
            <a:off x="7132320" y="4937760"/>
            <a:ext cx="1920240" cy="411480"/>
          </a:xfrm>
          <a:prstGeom prst="rect">
            <a:avLst/>
          </a:prstGeom>
          <a:noFill/>
        </p:spPr>
        <p:txBody>
          <a:bodyPr wrap="square" anchor="t">
            <a:spAutoFit/>
          </a:bodyPr>
          <a:lstStyle/>
          <a:p>
            <a:pPr algn="ctr">
              <a:lnSpc>
                <a:spcPct val="100000"/>
              </a:lnSpc>
            </a:pPr>
            <a:r>
              <a:rPr sz="1150" b="0">
                <a:solidFill>
                  <a:srgbClr val="5A6370"/>
                </a:solidFill>
                <a:latin typeface="Calibri"/>
              </a:rPr>
              <a:t>raw process/ET columns</a:t>
            </a:r>
          </a:p>
        </p:txBody>
      </p:sp>
      <p:sp>
        <p:nvSpPr>
          <p:cNvPr id="16" name="TextBox 15"/>
          <p:cNvSpPr txBox="1"/>
          <p:nvPr/>
        </p:nvSpPr>
        <p:spPr>
          <a:xfrm>
            <a:off x="502920" y="6537960"/>
            <a:ext cx="9144000" cy="274320"/>
          </a:xfrm>
          <a:prstGeom prst="rect">
            <a:avLst/>
          </a:prstGeom>
          <a:noFill/>
        </p:spPr>
        <p:txBody>
          <a:bodyPr wrap="square" anchor="t">
            <a:spAutoFit/>
          </a:bodyPr>
          <a:lstStyle/>
          <a:p>
            <a:pPr algn="l">
              <a:lnSpc>
                <a:spcPct val="100000"/>
              </a:lnSpc>
            </a:pPr>
            <a:r>
              <a:rPr sz="900" b="0">
                <a:solidFill>
                  <a:srgbClr val="5A6370"/>
                </a:solidFill>
                <a:latin typeface="Calibri"/>
              </a:rPr>
              <a:t>YieldMindX -- AI-Based Correlation Engine for EOL Yield Optimization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601200" cy="320040"/>
          </a:xfrm>
          <a:prstGeom prst="rect">
            <a:avLst/>
          </a:prstGeom>
          <a:noFill/>
        </p:spPr>
        <p:txBody>
          <a:bodyPr wrap="square" anchor="t">
            <a:spAutoFit/>
          </a:bodyPr>
          <a:lstStyle/>
          <a:p>
            <a:pPr algn="l">
              <a:lnSpc>
                <a:spcPct val="100000"/>
              </a:lnSpc>
            </a:pPr>
            <a:r>
              <a:rPr sz="1300" b="1">
                <a:solidFill>
                  <a:srgbClr val="C98A2C"/>
                </a:solidFill>
                <a:latin typeface="Calibri"/>
              </a:rPr>
              <a:t>OVERVIEW</a:t>
            </a:r>
          </a:p>
        </p:txBody>
      </p:sp>
      <p:sp>
        <p:nvSpPr>
          <p:cNvPr id="4" name="TextBox 3"/>
          <p:cNvSpPr txBox="1"/>
          <p:nvPr/>
        </p:nvSpPr>
        <p:spPr>
          <a:xfrm>
            <a:off x="502920" y="384048"/>
            <a:ext cx="10515600" cy="594360"/>
          </a:xfrm>
          <a:prstGeom prst="rect">
            <a:avLst/>
          </a:prstGeom>
          <a:noFill/>
        </p:spPr>
        <p:txBody>
          <a:bodyPr wrap="square" anchor="t">
            <a:spAutoFit/>
          </a:bodyPr>
          <a:lstStyle/>
          <a:p>
            <a:pPr algn="l">
              <a:lnSpc>
                <a:spcPct val="100000"/>
              </a:lnSpc>
            </a:pPr>
            <a:r>
              <a:rPr sz="2700" b="1">
                <a:solidFill>
                  <a:srgbClr val="FFFFFF"/>
                </a:solidFill>
                <a:latin typeface="Calibri"/>
              </a:rPr>
              <a:t>System Goal</a:t>
            </a:r>
          </a:p>
        </p:txBody>
      </p:sp>
      <p:sp>
        <p:nvSpPr>
          <p:cNvPr id="5" name="TextBox 4"/>
          <p:cNvSpPr txBox="1"/>
          <p:nvPr/>
        </p:nvSpPr>
        <p:spPr>
          <a:xfrm>
            <a:off x="11292840" y="384048"/>
            <a:ext cx="731520" cy="365760"/>
          </a:xfrm>
          <a:prstGeom prst="rect">
            <a:avLst/>
          </a:prstGeom>
          <a:noFill/>
        </p:spPr>
        <p:txBody>
          <a:bodyPr wrap="square" anchor="t">
            <a:spAutoFit/>
          </a:bodyPr>
          <a:lstStyle/>
          <a:p>
            <a:pPr algn="r">
              <a:lnSpc>
                <a:spcPct val="100000"/>
              </a:lnSpc>
            </a:pPr>
            <a:r>
              <a:rPr sz="1300" b="0">
                <a:solidFill>
                  <a:srgbClr val="B8C2D0"/>
                </a:solidFill>
                <a:latin typeface="Calibri"/>
              </a:rPr>
              <a:t>3/15</a:t>
            </a:r>
          </a:p>
        </p:txBody>
      </p:sp>
      <p:sp>
        <p:nvSpPr>
          <p:cNvPr id="6" name="Rounded Rectangle 5"/>
          <p:cNvSpPr/>
          <p:nvPr/>
        </p:nvSpPr>
        <p:spPr>
          <a:xfrm>
            <a:off x="640080" y="1737360"/>
            <a:ext cx="5120640" cy="3017520"/>
          </a:xfrm>
          <a:prstGeom prst="roundRect">
            <a:avLst/>
          </a:prstGeom>
          <a:solidFill>
            <a:srgbClr val="2E5B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r>
              <a:rPr sz="1400" b="1">
                <a:solidFill>
                  <a:srgbClr val="C98A2C"/>
                </a:solidFill>
              </a:rPr>
              <a:t>STAGE 1</a:t>
            </a:r>
          </a:p>
          <a:p>
            <a:pPr>
              <a:spcBef>
                <a:spcPts val="400"/>
              </a:spcBef>
            </a:pPr>
            <a:r>
              <a:rPr sz="2100" b="1">
                <a:solidFill>
                  <a:srgbClr val="FFFFFF"/>
                </a:solidFill>
              </a:rPr>
              <a:t>Yield Prediction Engine</a:t>
            </a:r>
          </a:p>
          <a:p>
            <a:pPr>
              <a:spcBef>
                <a:spcPts val="1000"/>
              </a:spcBef>
            </a:pPr>
            <a:r>
              <a:rPr sz="1400">
                <a:solidFill>
                  <a:srgbClr val="E8EEF4"/>
                </a:solidFill>
              </a:rPr>
              <a:t>Predict SortingYield as accurately and reliably as possible from leakage-free process/ET predictors, using grouped, leakage-safe validation.</a:t>
            </a:r>
          </a:p>
        </p:txBody>
      </p:sp>
      <p:sp>
        <p:nvSpPr>
          <p:cNvPr id="7" name="Rounded Rectangle 6"/>
          <p:cNvSpPr/>
          <p:nvPr/>
        </p:nvSpPr>
        <p:spPr>
          <a:xfrm>
            <a:off x="6309360" y="1737360"/>
            <a:ext cx="5120640" cy="3017520"/>
          </a:xfrm>
          <a:prstGeom prst="roundRect">
            <a:avLst/>
          </a:prstGeom>
          <a:solidFill>
            <a:srgbClr val="2C8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r>
              <a:rPr sz="1400" b="1">
                <a:solidFill>
                  <a:srgbClr val="C98A2C"/>
                </a:solidFill>
              </a:rPr>
              <a:t>STAGE 2</a:t>
            </a:r>
          </a:p>
          <a:p>
            <a:pPr>
              <a:spcBef>
                <a:spcPts val="400"/>
              </a:spcBef>
            </a:pPr>
            <a:r>
              <a:rPr sz="2100" b="1">
                <a:solidFill>
                  <a:srgbClr val="FFFFFF"/>
                </a:solidFill>
              </a:rPr>
              <a:t>Relationship Discovery &amp; Validation Engine</a:t>
            </a:r>
          </a:p>
          <a:p>
            <a:pPr>
              <a:spcBef>
                <a:spcPts val="1000"/>
              </a:spcBef>
            </a:pPr>
            <a:r>
              <a:rPr sz="1400">
                <a:solidFill>
                  <a:srgbClr val="E8EEF4"/>
                </a:solidFill>
              </a:rPr>
              <a:t>Discover and statistically VALIDATE which single parameters, pairs, and triples of parameters actually explain yield behavior -- with shapes, thresholds, and confidence levels engineers can act on.</a:t>
            </a:r>
          </a:p>
        </p:txBody>
      </p:sp>
      <p:sp>
        <p:nvSpPr>
          <p:cNvPr id="8" name="TextBox 7"/>
          <p:cNvSpPr txBox="1"/>
          <p:nvPr/>
        </p:nvSpPr>
        <p:spPr>
          <a:xfrm>
            <a:off x="640080" y="5029200"/>
            <a:ext cx="10789920" cy="1097280"/>
          </a:xfrm>
          <a:prstGeom prst="rect">
            <a:avLst/>
          </a:prstGeom>
          <a:noFill/>
        </p:spPr>
        <p:txBody>
          <a:bodyPr wrap="square" anchor="t">
            <a:spAutoFit/>
          </a:bodyPr>
          <a:lstStyle/>
          <a:p>
            <a:pPr algn="ctr">
              <a:lnSpc>
                <a:spcPct val="100000"/>
              </a:lnSpc>
            </a:pPr>
            <a:r>
              <a:rPr sz="1500" b="0">
                <a:solidFill>
                  <a:srgbClr val="5A6370"/>
                </a:solidFill>
                <a:latin typeface="Calibri"/>
              </a:rPr>
              <a:t>Stage 1 answers "what will the yield be?" Stage 2 answers "why -- and which knobs, thresholds, and combinations actually matter?" Both stages share the same leakage-safe, LotName-grouped validation discipline.</a:t>
            </a:r>
          </a:p>
        </p:txBody>
      </p:sp>
      <p:sp>
        <p:nvSpPr>
          <p:cNvPr id="9" name="TextBox 8"/>
          <p:cNvSpPr txBox="1"/>
          <p:nvPr/>
        </p:nvSpPr>
        <p:spPr>
          <a:xfrm>
            <a:off x="502920" y="6537960"/>
            <a:ext cx="9144000" cy="274320"/>
          </a:xfrm>
          <a:prstGeom prst="rect">
            <a:avLst/>
          </a:prstGeom>
          <a:noFill/>
        </p:spPr>
        <p:txBody>
          <a:bodyPr wrap="square" anchor="t">
            <a:spAutoFit/>
          </a:bodyPr>
          <a:lstStyle/>
          <a:p>
            <a:pPr algn="l">
              <a:lnSpc>
                <a:spcPct val="100000"/>
              </a:lnSpc>
            </a:pPr>
            <a:r>
              <a:rPr sz="900" b="0">
                <a:solidFill>
                  <a:srgbClr val="5A6370"/>
                </a:solidFill>
                <a:latin typeface="Calibri"/>
              </a:rPr>
              <a:t>YieldMindX -- AI-Based Correlation Engine for EOL Yield Optimization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601200" cy="320040"/>
          </a:xfrm>
          <a:prstGeom prst="rect">
            <a:avLst/>
          </a:prstGeom>
          <a:noFill/>
        </p:spPr>
        <p:txBody>
          <a:bodyPr wrap="square" anchor="t">
            <a:spAutoFit/>
          </a:bodyPr>
          <a:lstStyle/>
          <a:p>
            <a:pPr algn="l">
              <a:lnSpc>
                <a:spcPct val="100000"/>
              </a:lnSpc>
            </a:pPr>
            <a:r>
              <a:rPr sz="1300" b="1">
                <a:solidFill>
                  <a:srgbClr val="C98A2C"/>
                </a:solidFill>
                <a:latin typeface="Calibri"/>
              </a:rPr>
              <a:t>DATA</a:t>
            </a:r>
          </a:p>
        </p:txBody>
      </p:sp>
      <p:sp>
        <p:nvSpPr>
          <p:cNvPr id="4" name="TextBox 3"/>
          <p:cNvSpPr txBox="1"/>
          <p:nvPr/>
        </p:nvSpPr>
        <p:spPr>
          <a:xfrm>
            <a:off x="502920" y="384048"/>
            <a:ext cx="10515600" cy="594360"/>
          </a:xfrm>
          <a:prstGeom prst="rect">
            <a:avLst/>
          </a:prstGeom>
          <a:noFill/>
        </p:spPr>
        <p:txBody>
          <a:bodyPr wrap="square" anchor="t">
            <a:spAutoFit/>
          </a:bodyPr>
          <a:lstStyle/>
          <a:p>
            <a:pPr algn="l">
              <a:lnSpc>
                <a:spcPct val="100000"/>
              </a:lnSpc>
            </a:pPr>
            <a:r>
              <a:rPr sz="2700" b="1">
                <a:solidFill>
                  <a:srgbClr val="FFFFFF"/>
                </a:solidFill>
                <a:latin typeface="Calibri"/>
              </a:rPr>
              <a:t>Data Overview</a:t>
            </a:r>
          </a:p>
        </p:txBody>
      </p:sp>
      <p:sp>
        <p:nvSpPr>
          <p:cNvPr id="5" name="TextBox 4"/>
          <p:cNvSpPr txBox="1"/>
          <p:nvPr/>
        </p:nvSpPr>
        <p:spPr>
          <a:xfrm>
            <a:off x="11292840" y="384048"/>
            <a:ext cx="731520" cy="365760"/>
          </a:xfrm>
          <a:prstGeom prst="rect">
            <a:avLst/>
          </a:prstGeom>
          <a:noFill/>
        </p:spPr>
        <p:txBody>
          <a:bodyPr wrap="square" anchor="t">
            <a:spAutoFit/>
          </a:bodyPr>
          <a:lstStyle/>
          <a:p>
            <a:pPr algn="r">
              <a:lnSpc>
                <a:spcPct val="100000"/>
              </a:lnSpc>
            </a:pPr>
            <a:r>
              <a:rPr sz="1300" b="0">
                <a:solidFill>
                  <a:srgbClr val="B8C2D0"/>
                </a:solidFill>
                <a:latin typeface="Calibri"/>
              </a:rPr>
              <a:t>4/15</a:t>
            </a:r>
          </a:p>
        </p:txBody>
      </p:sp>
      <p:sp>
        <p:nvSpPr>
          <p:cNvPr id="6" name="Rounded Rectangle 5"/>
          <p:cNvSpPr/>
          <p:nvPr/>
        </p:nvSpPr>
        <p:spPr>
          <a:xfrm>
            <a:off x="548640" y="1417320"/>
            <a:ext cx="1874519" cy="105156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27048"/>
            <a:ext cx="1874519" cy="502920"/>
          </a:xfrm>
          <a:prstGeom prst="rect">
            <a:avLst/>
          </a:prstGeom>
          <a:noFill/>
        </p:spPr>
        <p:txBody>
          <a:bodyPr wrap="square" anchor="t">
            <a:spAutoFit/>
          </a:bodyPr>
          <a:lstStyle/>
          <a:p>
            <a:pPr algn="ctr">
              <a:lnSpc>
                <a:spcPct val="100000"/>
              </a:lnSpc>
            </a:pPr>
            <a:r>
              <a:rPr sz="2600" b="1">
                <a:solidFill>
                  <a:srgbClr val="2E5B88"/>
                </a:solidFill>
                <a:latin typeface="Calibri"/>
              </a:rPr>
              <a:t>1,500</a:t>
            </a:r>
          </a:p>
        </p:txBody>
      </p:sp>
      <p:sp>
        <p:nvSpPr>
          <p:cNvPr id="8" name="TextBox 7"/>
          <p:cNvSpPr txBox="1"/>
          <p:nvPr/>
        </p:nvSpPr>
        <p:spPr>
          <a:xfrm>
            <a:off x="640080" y="2011680"/>
            <a:ext cx="1691639" cy="411480"/>
          </a:xfrm>
          <a:prstGeom prst="rect">
            <a:avLst/>
          </a:prstGeom>
          <a:noFill/>
        </p:spPr>
        <p:txBody>
          <a:bodyPr wrap="square" anchor="t">
            <a:spAutoFit/>
          </a:bodyPr>
          <a:lstStyle/>
          <a:p>
            <a:pPr algn="ctr">
              <a:lnSpc>
                <a:spcPct val="100000"/>
              </a:lnSpc>
            </a:pPr>
            <a:r>
              <a:rPr sz="1150" b="0">
                <a:solidFill>
                  <a:srgbClr val="5A6370"/>
                </a:solidFill>
                <a:latin typeface="Calibri"/>
              </a:rPr>
              <a:t>wafers</a:t>
            </a:r>
          </a:p>
        </p:txBody>
      </p:sp>
      <p:sp>
        <p:nvSpPr>
          <p:cNvPr id="9" name="Rounded Rectangle 8"/>
          <p:cNvSpPr/>
          <p:nvPr/>
        </p:nvSpPr>
        <p:spPr>
          <a:xfrm>
            <a:off x="2560320" y="1417320"/>
            <a:ext cx="1874519" cy="105156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0" y="1527048"/>
            <a:ext cx="1874519" cy="502920"/>
          </a:xfrm>
          <a:prstGeom prst="rect">
            <a:avLst/>
          </a:prstGeom>
          <a:noFill/>
        </p:spPr>
        <p:txBody>
          <a:bodyPr wrap="square" anchor="t">
            <a:spAutoFit/>
          </a:bodyPr>
          <a:lstStyle/>
          <a:p>
            <a:pPr algn="ctr">
              <a:lnSpc>
                <a:spcPct val="100000"/>
              </a:lnSpc>
            </a:pPr>
            <a:r>
              <a:rPr sz="2600" b="1">
                <a:solidFill>
                  <a:srgbClr val="2E5B88"/>
                </a:solidFill>
                <a:latin typeface="Calibri"/>
              </a:rPr>
              <a:t>100 x 15</a:t>
            </a:r>
          </a:p>
        </p:txBody>
      </p:sp>
      <p:sp>
        <p:nvSpPr>
          <p:cNvPr id="11" name="TextBox 10"/>
          <p:cNvSpPr txBox="1"/>
          <p:nvPr/>
        </p:nvSpPr>
        <p:spPr>
          <a:xfrm>
            <a:off x="2651760" y="2011680"/>
            <a:ext cx="1691639" cy="411480"/>
          </a:xfrm>
          <a:prstGeom prst="rect">
            <a:avLst/>
          </a:prstGeom>
          <a:noFill/>
        </p:spPr>
        <p:txBody>
          <a:bodyPr wrap="square" anchor="t">
            <a:spAutoFit/>
          </a:bodyPr>
          <a:lstStyle/>
          <a:p>
            <a:pPr algn="ctr">
              <a:lnSpc>
                <a:spcPct val="100000"/>
              </a:lnSpc>
            </a:pPr>
            <a:r>
              <a:rPr sz="1150" b="0">
                <a:solidFill>
                  <a:srgbClr val="5A6370"/>
                </a:solidFill>
                <a:latin typeface="Calibri"/>
              </a:rPr>
              <a:t>lots x wafers/lot</a:t>
            </a:r>
          </a:p>
        </p:txBody>
      </p:sp>
      <p:sp>
        <p:nvSpPr>
          <p:cNvPr id="12" name="Rounded Rectangle 11"/>
          <p:cNvSpPr/>
          <p:nvPr/>
        </p:nvSpPr>
        <p:spPr>
          <a:xfrm>
            <a:off x="4572000" y="1417320"/>
            <a:ext cx="1874519" cy="105156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527048"/>
            <a:ext cx="1874519" cy="502920"/>
          </a:xfrm>
          <a:prstGeom prst="rect">
            <a:avLst/>
          </a:prstGeom>
          <a:noFill/>
        </p:spPr>
        <p:txBody>
          <a:bodyPr wrap="square" anchor="t">
            <a:spAutoFit/>
          </a:bodyPr>
          <a:lstStyle/>
          <a:p>
            <a:pPr algn="ctr">
              <a:lnSpc>
                <a:spcPct val="100000"/>
              </a:lnSpc>
            </a:pPr>
            <a:r>
              <a:rPr sz="2600" b="1">
                <a:solidFill>
                  <a:srgbClr val="2E5B88"/>
                </a:solidFill>
                <a:latin typeface="Calibri"/>
              </a:rPr>
              <a:t>~1,430</a:t>
            </a:r>
          </a:p>
        </p:txBody>
      </p:sp>
      <p:sp>
        <p:nvSpPr>
          <p:cNvPr id="14" name="TextBox 13"/>
          <p:cNvSpPr txBox="1"/>
          <p:nvPr/>
        </p:nvSpPr>
        <p:spPr>
          <a:xfrm>
            <a:off x="4663440" y="2011680"/>
            <a:ext cx="1691639" cy="411480"/>
          </a:xfrm>
          <a:prstGeom prst="rect">
            <a:avLst/>
          </a:prstGeom>
          <a:noFill/>
        </p:spPr>
        <p:txBody>
          <a:bodyPr wrap="square" anchor="t">
            <a:spAutoFit/>
          </a:bodyPr>
          <a:lstStyle/>
          <a:p>
            <a:pPr algn="ctr">
              <a:lnSpc>
                <a:spcPct val="100000"/>
              </a:lnSpc>
            </a:pPr>
            <a:r>
              <a:rPr sz="1150" b="0">
                <a:solidFill>
                  <a:srgbClr val="5A6370"/>
                </a:solidFill>
                <a:latin typeface="Calibri"/>
              </a:rPr>
              <a:t>raw CSV columns</a:t>
            </a:r>
          </a:p>
        </p:txBody>
      </p:sp>
      <p:sp>
        <p:nvSpPr>
          <p:cNvPr id="15" name="Rounded Rectangle 14"/>
          <p:cNvSpPr/>
          <p:nvPr/>
        </p:nvSpPr>
        <p:spPr>
          <a:xfrm>
            <a:off x="6583680" y="1417320"/>
            <a:ext cx="1874519" cy="105156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1527048"/>
            <a:ext cx="1874519" cy="502920"/>
          </a:xfrm>
          <a:prstGeom prst="rect">
            <a:avLst/>
          </a:prstGeom>
          <a:noFill/>
        </p:spPr>
        <p:txBody>
          <a:bodyPr wrap="square" anchor="t">
            <a:spAutoFit/>
          </a:bodyPr>
          <a:lstStyle/>
          <a:p>
            <a:pPr algn="ctr">
              <a:lnSpc>
                <a:spcPct val="100000"/>
              </a:lnSpc>
            </a:pPr>
            <a:r>
              <a:rPr sz="2600" b="1">
                <a:solidFill>
                  <a:srgbClr val="2E5B88"/>
                </a:solidFill>
                <a:latin typeface="Calibri"/>
              </a:rPr>
              <a:t>1,425</a:t>
            </a:r>
          </a:p>
        </p:txBody>
      </p:sp>
      <p:sp>
        <p:nvSpPr>
          <p:cNvPr id="17" name="TextBox 16"/>
          <p:cNvSpPr txBox="1"/>
          <p:nvPr/>
        </p:nvSpPr>
        <p:spPr>
          <a:xfrm>
            <a:off x="6675120" y="2011680"/>
            <a:ext cx="1691639" cy="411480"/>
          </a:xfrm>
          <a:prstGeom prst="rect">
            <a:avLst/>
          </a:prstGeom>
          <a:noFill/>
        </p:spPr>
        <p:txBody>
          <a:bodyPr wrap="square" anchor="t">
            <a:spAutoFit/>
          </a:bodyPr>
          <a:lstStyle/>
          <a:p>
            <a:pPr algn="ctr">
              <a:lnSpc>
                <a:spcPct val="100000"/>
              </a:lnSpc>
            </a:pPr>
            <a:r>
              <a:rPr sz="1150" b="0">
                <a:solidFill>
                  <a:srgbClr val="5A6370"/>
                </a:solidFill>
                <a:latin typeface="Calibri"/>
              </a:rPr>
              <a:t>Stage 2 predictor universe</a:t>
            </a:r>
          </a:p>
        </p:txBody>
      </p:sp>
      <p:sp>
        <p:nvSpPr>
          <p:cNvPr id="18" name="Rounded Rectangle 17"/>
          <p:cNvSpPr/>
          <p:nvPr/>
        </p:nvSpPr>
        <p:spPr>
          <a:xfrm>
            <a:off x="8595360" y="1417320"/>
            <a:ext cx="2377440" cy="105156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0" y="1527048"/>
            <a:ext cx="2377440" cy="502920"/>
          </a:xfrm>
          <a:prstGeom prst="rect">
            <a:avLst/>
          </a:prstGeom>
          <a:noFill/>
        </p:spPr>
        <p:txBody>
          <a:bodyPr wrap="square" anchor="t">
            <a:spAutoFit/>
          </a:bodyPr>
          <a:lstStyle/>
          <a:p>
            <a:pPr algn="ctr">
              <a:lnSpc>
                <a:spcPct val="100000"/>
              </a:lnSpc>
            </a:pPr>
            <a:r>
              <a:rPr sz="2600" b="1">
                <a:solidFill>
                  <a:srgbClr val="2E5B88"/>
                </a:solidFill>
                <a:latin typeface="Calibri"/>
              </a:rPr>
              <a:t>SortingYield</a:t>
            </a:r>
          </a:p>
        </p:txBody>
      </p:sp>
      <p:sp>
        <p:nvSpPr>
          <p:cNvPr id="20" name="TextBox 19"/>
          <p:cNvSpPr txBox="1"/>
          <p:nvPr/>
        </p:nvSpPr>
        <p:spPr>
          <a:xfrm>
            <a:off x="8686800" y="2011680"/>
            <a:ext cx="2194560" cy="411480"/>
          </a:xfrm>
          <a:prstGeom prst="rect">
            <a:avLst/>
          </a:prstGeom>
          <a:noFill/>
        </p:spPr>
        <p:txBody>
          <a:bodyPr wrap="square" anchor="t">
            <a:spAutoFit/>
          </a:bodyPr>
          <a:lstStyle/>
          <a:p>
            <a:pPr algn="ctr">
              <a:lnSpc>
                <a:spcPct val="100000"/>
              </a:lnSpc>
            </a:pPr>
            <a:r>
              <a:rPr sz="1150" b="0">
                <a:solidFill>
                  <a:srgbClr val="5A6370"/>
                </a:solidFill>
                <a:latin typeface="Calibri"/>
              </a:rPr>
              <a:t>prediction target</a:t>
            </a:r>
          </a:p>
        </p:txBody>
      </p:sp>
      <p:sp>
        <p:nvSpPr>
          <p:cNvPr id="21" name="TextBox 20"/>
          <p:cNvSpPr txBox="1"/>
          <p:nvPr/>
        </p:nvSpPr>
        <p:spPr>
          <a:xfrm>
            <a:off x="640080" y="2788920"/>
            <a:ext cx="10789920" cy="3383280"/>
          </a:xfrm>
          <a:prstGeom prst="rect">
            <a:avLst/>
          </a:prstGeom>
          <a:noFill/>
        </p:spPr>
        <p:txBody>
          <a:bodyPr wrap="square">
            <a:spAutoFit/>
          </a:bodyPr>
          <a:lstStyle/>
          <a:p>
            <a:pPr marL="0">
              <a:spcAft>
                <a:spcPts val="1400"/>
              </a:spcAft>
            </a:pPr>
            <a:r>
              <a:rPr sz="1550" b="0">
                <a:solidFill>
                  <a:srgbClr val="222833"/>
                </a:solidFill>
                <a:latin typeface="Calibri"/>
              </a:rPr>
              <a:t>▪ Target: SortingYield (continuous, %).</a:t>
            </a:r>
          </a:p>
          <a:p>
            <a:pPr marL="0">
              <a:spcAft>
                <a:spcPts val="1400"/>
              </a:spcAft>
            </a:pPr>
            <a:r>
              <a:rPr sz="1550" b="0">
                <a:solidFill>
                  <a:srgbClr val="222833"/>
                </a:solidFill>
                <a:latin typeface="Calibri"/>
              </a:rPr>
              <a:t>▪ Original predictors: raw process and electrical-test (ET) parameters recorded per wafer -- 1,405 numeric + 20 one-hot-encoded categorical (VendorName, Technology, MaskSetName, etc.) = 1,425 predictors, after leakage/ID/duplicate columns are removed.</a:t>
            </a:r>
          </a:p>
          <a:p>
            <a:pPr marL="0">
              <a:spcAft>
                <a:spcPts val="1400"/>
              </a:spcAft>
            </a:pPr>
            <a:r>
              <a:rPr sz="1550" b="0">
                <a:solidFill>
                  <a:srgbClr val="222833"/>
                </a:solidFill>
                <a:latin typeface="Calibri"/>
              </a:rPr>
              <a:t>▪ 307 project-created ENGINEERED features (stage-range/std/delta features built from raw ET columns) exist but are EXCLUDED from the current official Stage 1 and Stage 2 analysis, so every result in this deck is based on original, physically-meaningful raw measurements only.</a:t>
            </a:r>
          </a:p>
          <a:p>
            <a:pPr marL="0">
              <a:spcAft>
                <a:spcPts val="1400"/>
              </a:spcAft>
            </a:pPr>
            <a:r>
              <a:rPr sz="1550" b="0">
                <a:solidFill>
                  <a:srgbClr val="222833"/>
                </a:solidFill>
                <a:latin typeface="Calibri"/>
              </a:rPr>
              <a:t>▪ Grouping: every wafer belongs to exactly one of 100 lots (15 wafers/lot) -- all validation is grouped by LotName so no lot's wafers ever span both train and test/validation.</a:t>
            </a:r>
          </a:p>
        </p:txBody>
      </p:sp>
      <p:sp>
        <p:nvSpPr>
          <p:cNvPr id="22" name="TextBox 21"/>
          <p:cNvSpPr txBox="1"/>
          <p:nvPr/>
        </p:nvSpPr>
        <p:spPr>
          <a:xfrm>
            <a:off x="502920" y="6537960"/>
            <a:ext cx="9144000" cy="274320"/>
          </a:xfrm>
          <a:prstGeom prst="rect">
            <a:avLst/>
          </a:prstGeom>
          <a:noFill/>
        </p:spPr>
        <p:txBody>
          <a:bodyPr wrap="square" anchor="t">
            <a:spAutoFit/>
          </a:bodyPr>
          <a:lstStyle/>
          <a:p>
            <a:pPr algn="l">
              <a:lnSpc>
                <a:spcPct val="100000"/>
              </a:lnSpc>
            </a:pPr>
            <a:r>
              <a:rPr sz="900" b="0">
                <a:solidFill>
                  <a:srgbClr val="5A6370"/>
                </a:solidFill>
                <a:latin typeface="Calibri"/>
              </a:rPr>
              <a:t>YieldMindX -- AI-Based Correlation Engine for EOL Yield Optimization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601200" cy="320040"/>
          </a:xfrm>
          <a:prstGeom prst="rect">
            <a:avLst/>
          </a:prstGeom>
          <a:noFill/>
        </p:spPr>
        <p:txBody>
          <a:bodyPr wrap="square" anchor="t">
            <a:spAutoFit/>
          </a:bodyPr>
          <a:lstStyle/>
          <a:p>
            <a:pPr algn="l">
              <a:lnSpc>
                <a:spcPct val="100000"/>
              </a:lnSpc>
            </a:pPr>
            <a:r>
              <a:rPr sz="1300" b="1">
                <a:solidFill>
                  <a:srgbClr val="C98A2C"/>
                </a:solidFill>
                <a:latin typeface="Calibri"/>
              </a:rPr>
              <a:t>DATA QUALITY</a:t>
            </a:r>
          </a:p>
        </p:txBody>
      </p:sp>
      <p:sp>
        <p:nvSpPr>
          <p:cNvPr id="4" name="TextBox 3"/>
          <p:cNvSpPr txBox="1"/>
          <p:nvPr/>
        </p:nvSpPr>
        <p:spPr>
          <a:xfrm>
            <a:off x="502920" y="384048"/>
            <a:ext cx="10515600" cy="594360"/>
          </a:xfrm>
          <a:prstGeom prst="rect">
            <a:avLst/>
          </a:prstGeom>
          <a:noFill/>
        </p:spPr>
        <p:txBody>
          <a:bodyPr wrap="square" anchor="t">
            <a:spAutoFit/>
          </a:bodyPr>
          <a:lstStyle/>
          <a:p>
            <a:pPr algn="l">
              <a:lnSpc>
                <a:spcPct val="100000"/>
              </a:lnSpc>
            </a:pPr>
            <a:r>
              <a:rPr sz="2700" b="1">
                <a:solidFill>
                  <a:srgbClr val="FFFFFF"/>
                </a:solidFill>
                <a:latin typeface="Calibri"/>
              </a:rPr>
              <a:t>Data Leakage and Feature Eligibility</a:t>
            </a:r>
          </a:p>
        </p:txBody>
      </p:sp>
      <p:sp>
        <p:nvSpPr>
          <p:cNvPr id="5" name="TextBox 4"/>
          <p:cNvSpPr txBox="1"/>
          <p:nvPr/>
        </p:nvSpPr>
        <p:spPr>
          <a:xfrm>
            <a:off x="11292840" y="384048"/>
            <a:ext cx="731520" cy="365760"/>
          </a:xfrm>
          <a:prstGeom prst="rect">
            <a:avLst/>
          </a:prstGeom>
          <a:noFill/>
        </p:spPr>
        <p:txBody>
          <a:bodyPr wrap="square" anchor="t">
            <a:spAutoFit/>
          </a:bodyPr>
          <a:lstStyle/>
          <a:p>
            <a:pPr algn="r">
              <a:lnSpc>
                <a:spcPct val="100000"/>
              </a:lnSpc>
            </a:pPr>
            <a:r>
              <a:rPr sz="1300" b="0">
                <a:solidFill>
                  <a:srgbClr val="B8C2D0"/>
                </a:solidFill>
                <a:latin typeface="Calibri"/>
              </a:rPr>
              <a:t>5/15</a:t>
            </a:r>
          </a:p>
        </p:txBody>
      </p:sp>
      <p:sp>
        <p:nvSpPr>
          <p:cNvPr id="6" name="TextBox 5"/>
          <p:cNvSpPr txBox="1"/>
          <p:nvPr/>
        </p:nvSpPr>
        <p:spPr>
          <a:xfrm>
            <a:off x="640080" y="1371600"/>
            <a:ext cx="10789920" cy="548640"/>
          </a:xfrm>
          <a:prstGeom prst="rect">
            <a:avLst/>
          </a:prstGeom>
          <a:noFill/>
        </p:spPr>
        <p:txBody>
          <a:bodyPr wrap="square" anchor="t">
            <a:spAutoFit/>
          </a:bodyPr>
          <a:lstStyle/>
          <a:p>
            <a:pPr algn="l">
              <a:lnSpc>
                <a:spcPct val="100000"/>
              </a:lnSpc>
            </a:pPr>
            <a:r>
              <a:rPr sz="1500" b="0">
                <a:solidFill>
                  <a:srgbClr val="222833"/>
                </a:solidFill>
                <a:latin typeface="Calibri"/>
              </a:rPr>
              <a:t>Some raw columns are other yield roll-ups or values statistically/deterministically derived from the outcome itself -- using them as predictors would let the model "cheat." These are excluded from BOTH stages.</a:t>
            </a:r>
          </a:p>
        </p:txBody>
      </p:sp>
      <p:graphicFrame>
        <p:nvGraphicFramePr>
          <p:cNvPr id="7" name="Table 6"/>
          <p:cNvGraphicFramePr>
            <a:graphicFrameLocks noGrp="1"/>
          </p:cNvGraphicFramePr>
          <p:nvPr/>
        </p:nvGraphicFramePr>
        <p:xfrm>
          <a:off x="640080" y="2103120"/>
          <a:ext cx="10789920" cy="2194560"/>
        </p:xfrm>
        <a:graphic>
          <a:graphicData uri="http://schemas.openxmlformats.org/drawingml/2006/table">
            <a:tbl>
              <a:tblPr bandRow="1">
                <a:tableStyleId>{5C22544A-7EE6-4342-B048-85BDC9FD1C3A}</a:tableStyleId>
              </a:tblPr>
              <a:tblGrid>
                <a:gridCol w="4754880"/>
                <a:gridCol w="6035040"/>
              </a:tblGrid>
              <a:tr h="438912">
                <a:tc>
                  <a:txBody>
                    <a:bodyPr/>
                    <a:lstStyle/>
                    <a:p>
                      <a:pPr algn="ctr"/>
                      <a:r>
                        <a:rPr b="1" sz="1350">
                          <a:solidFill>
                            <a:srgbClr val="FFFFFF"/>
                          </a:solidFill>
                        </a:rPr>
                        <a:t>Excluded column</a:t>
                      </a:r>
                    </a:p>
                  </a:txBody>
                  <a:tcPr anchor="ctr">
                    <a:solidFill>
                      <a:srgbClr val="1B2A4A"/>
                    </a:solidFill>
                  </a:tcPr>
                </a:tc>
                <a:tc>
                  <a:txBody>
                    <a:bodyPr/>
                    <a:lstStyle/>
                    <a:p>
                      <a:pPr algn="ctr"/>
                      <a:r>
                        <a:rPr b="1" sz="1350">
                          <a:solidFill>
                            <a:srgbClr val="FFFFFF"/>
                          </a:solidFill>
                        </a:rPr>
                        <a:t>Why it's leakage</a:t>
                      </a:r>
                    </a:p>
                  </a:txBody>
                  <a:tcPr anchor="ctr">
                    <a:solidFill>
                      <a:srgbClr val="1B2A4A"/>
                    </a:solidFill>
                  </a:tcPr>
                </a:tc>
              </a:tr>
              <a:tr h="438912">
                <a:tc>
                  <a:txBody>
                    <a:bodyPr/>
                    <a:lstStyle/>
                    <a:p>
                      <a:pPr algn="l"/>
                      <a:r>
                        <a:rPr sz="1450">
                          <a:solidFill>
                            <a:srgbClr val="222833"/>
                          </a:solidFill>
                        </a:rPr>
                        <a:t>Actual Sorting Yield (%)</a:t>
                      </a:r>
                    </a:p>
                  </a:txBody>
                  <a:tcPr anchor="ctr">
                    <a:solidFill>
                      <a:srgbClr val="FFFFFF"/>
                    </a:solidFill>
                  </a:tcPr>
                </a:tc>
                <a:tc>
                  <a:txBody>
                    <a:bodyPr/>
                    <a:lstStyle/>
                    <a:p>
                      <a:pPr algn="ctr"/>
                      <a:r>
                        <a:rPr sz="1450">
                          <a:solidFill>
                            <a:srgbClr val="222833"/>
                          </a:solidFill>
                        </a:rPr>
                        <a:t>r = 0.99 with target -- same underlying metric</a:t>
                      </a:r>
                    </a:p>
                  </a:txBody>
                  <a:tcPr anchor="ctr">
                    <a:solidFill>
                      <a:srgbClr val="FFFFFF"/>
                    </a:solidFill>
                  </a:tcPr>
                </a:tc>
              </a:tr>
              <a:tr h="438912">
                <a:tc>
                  <a:txBody>
                    <a:bodyPr/>
                    <a:lstStyle/>
                    <a:p>
                      <a:pPr algn="l"/>
                      <a:r>
                        <a:rPr sz="1450">
                          <a:solidFill>
                            <a:srgbClr val="222833"/>
                          </a:solidFill>
                        </a:rPr>
                        <a:t>TotalYield</a:t>
                      </a:r>
                    </a:p>
                  </a:txBody>
                  <a:tcPr anchor="ctr">
                    <a:solidFill>
                      <a:srgbClr val="F4F6F8"/>
                    </a:solidFill>
                  </a:tcPr>
                </a:tc>
                <a:tc>
                  <a:txBody>
                    <a:bodyPr/>
                    <a:lstStyle/>
                    <a:p>
                      <a:pPr algn="ctr"/>
                      <a:r>
                        <a:rPr sz="1450">
                          <a:solidFill>
                            <a:srgbClr val="222833"/>
                          </a:solidFill>
                        </a:rPr>
                        <a:t>r = 0.92 with target -- rollup that includes it</a:t>
                      </a:r>
                    </a:p>
                  </a:txBody>
                  <a:tcPr anchor="ctr">
                    <a:solidFill>
                      <a:srgbClr val="F4F6F8"/>
                    </a:solidFill>
                  </a:tcPr>
                </a:tc>
              </a:tr>
              <a:tr h="438912">
                <a:tc>
                  <a:txBody>
                    <a:bodyPr/>
                    <a:lstStyle/>
                    <a:p>
                      <a:pPr algn="l"/>
                      <a:r>
                        <a:rPr sz="1450">
                          <a:solidFill>
                            <a:srgbClr val="222833"/>
                          </a:solidFill>
                        </a:rPr>
                        <a:t>EstimatedSupplyChipsCount</a:t>
                      </a:r>
                    </a:p>
                  </a:txBody>
                  <a:tcPr anchor="ctr">
                    <a:solidFill>
                      <a:srgbClr val="FFFFFF"/>
                    </a:solidFill>
                  </a:tcPr>
                </a:tc>
                <a:tc>
                  <a:txBody>
                    <a:bodyPr/>
                    <a:lstStyle/>
                    <a:p>
                      <a:pPr algn="ctr"/>
                      <a:r>
                        <a:rPr sz="1450">
                          <a:solidFill>
                            <a:srgbClr val="222833"/>
                          </a:solidFill>
                        </a:rPr>
                        <a:t>Derived ratio bakes in the yield outcome (r = 0.92)</a:t>
                      </a:r>
                    </a:p>
                  </a:txBody>
                  <a:tcPr anchor="ctr">
                    <a:solidFill>
                      <a:srgbClr val="FFFFFF"/>
                    </a:solidFill>
                  </a:tcPr>
                </a:tc>
              </a:tr>
              <a:tr h="438912">
                <a:tc>
                  <a:txBody>
                    <a:bodyPr/>
                    <a:lstStyle/>
                    <a:p>
                      <a:pPr algn="l"/>
                      <a:r>
                        <a:rPr sz="1450">
                          <a:solidFill>
                            <a:srgbClr val="222833"/>
                          </a:solidFill>
                        </a:rPr>
                        <a:t>LineYield / BackEndYield / VIYield / LTYield</a:t>
                      </a:r>
                    </a:p>
                  </a:txBody>
                  <a:tcPr anchor="ctr">
                    <a:solidFill>
                      <a:srgbClr val="F4F6F8"/>
                    </a:solidFill>
                  </a:tcPr>
                </a:tc>
                <a:tc>
                  <a:txBody>
                    <a:bodyPr/>
                    <a:lstStyle/>
                    <a:p>
                      <a:pPr algn="ctr"/>
                      <a:r>
                        <a:rPr sz="1450">
                          <a:solidFill>
                            <a:srgbClr val="222833"/>
                          </a:solidFill>
                        </a:rPr>
                        <a:t>Separate downstream yield-stage outputs</a:t>
                      </a:r>
                    </a:p>
                  </a:txBody>
                  <a:tcPr anchor="ctr">
                    <a:solidFill>
                      <a:srgbClr val="F4F6F8"/>
                    </a:solidFill>
                  </a:tcPr>
                </a:tc>
              </a:tr>
            </a:tbl>
          </a:graphicData>
        </a:graphic>
      </p:graphicFrame>
      <p:sp>
        <p:nvSpPr>
          <p:cNvPr id="8" name="TextBox 7"/>
          <p:cNvSpPr txBox="1"/>
          <p:nvPr/>
        </p:nvSpPr>
        <p:spPr>
          <a:xfrm>
            <a:off x="640080" y="4572000"/>
            <a:ext cx="10789920" cy="1828800"/>
          </a:xfrm>
          <a:prstGeom prst="rect">
            <a:avLst/>
          </a:prstGeom>
          <a:noFill/>
        </p:spPr>
        <p:txBody>
          <a:bodyPr wrap="square">
            <a:spAutoFit/>
          </a:bodyPr>
          <a:lstStyle/>
          <a:p>
            <a:pPr marL="0">
              <a:spcAft>
                <a:spcPts val="1000"/>
              </a:spcAft>
            </a:pPr>
            <a:r>
              <a:rPr sz="1500" b="0">
                <a:solidFill>
                  <a:srgbClr val="222833"/>
                </a:solidFill>
                <a:latin typeface="Calibri"/>
              </a:rPr>
              <a:t>▪ Also excluded: metadata/ID/traceability columns (LotName, WaferNum, dates) -- kept only as grouping keys, never as predictors.</a:t>
            </a:r>
          </a:p>
          <a:p>
            <a:pPr marL="0">
              <a:spcAft>
                <a:spcPts val="1000"/>
              </a:spcAft>
            </a:pPr>
            <a:r>
              <a:rPr sz="1500" b="0">
                <a:solidFill>
                  <a:srgbClr val="222833"/>
                </a:solidFill>
                <a:latin typeface="Calibri"/>
              </a:rPr>
              <a:t>▪ Exact-duplicate columns (e.g. MaskSetName_group, a 1:1 duplicate of MaskSetName) are removed.</a:t>
            </a:r>
          </a:p>
          <a:p>
            <a:pPr marL="0">
              <a:spcAft>
                <a:spcPts val="1000"/>
              </a:spcAft>
            </a:pPr>
            <a:r>
              <a:rPr sz="1500" b="0">
                <a:solidFill>
                  <a:srgbClr val="222833"/>
                </a:solidFill>
                <a:latin typeface="Calibri"/>
              </a:rPr>
              <a:t>▪ Every exclusion is justified from evidence found directly in the data (correlation, duplication, derived-ratio checks) -- not from the synthetic ground-truth document, which is deliberately kept out of the discovery pipeline.</a:t>
            </a:r>
          </a:p>
        </p:txBody>
      </p:sp>
      <p:sp>
        <p:nvSpPr>
          <p:cNvPr id="9" name="TextBox 8"/>
          <p:cNvSpPr txBox="1"/>
          <p:nvPr/>
        </p:nvSpPr>
        <p:spPr>
          <a:xfrm>
            <a:off x="502920" y="6537960"/>
            <a:ext cx="9144000" cy="274320"/>
          </a:xfrm>
          <a:prstGeom prst="rect">
            <a:avLst/>
          </a:prstGeom>
          <a:noFill/>
        </p:spPr>
        <p:txBody>
          <a:bodyPr wrap="square" anchor="t">
            <a:spAutoFit/>
          </a:bodyPr>
          <a:lstStyle/>
          <a:p>
            <a:pPr algn="l">
              <a:lnSpc>
                <a:spcPct val="100000"/>
              </a:lnSpc>
            </a:pPr>
            <a:r>
              <a:rPr sz="900" b="0">
                <a:solidFill>
                  <a:srgbClr val="5A6370"/>
                </a:solidFill>
                <a:latin typeface="Calibri"/>
              </a:rPr>
              <a:t>YieldMindX -- AI-Based Correlation Engine for EOL Yield Optimization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601200" cy="320040"/>
          </a:xfrm>
          <a:prstGeom prst="rect">
            <a:avLst/>
          </a:prstGeom>
          <a:noFill/>
        </p:spPr>
        <p:txBody>
          <a:bodyPr wrap="square" anchor="t">
            <a:spAutoFit/>
          </a:bodyPr>
          <a:lstStyle/>
          <a:p>
            <a:pPr algn="l">
              <a:lnSpc>
                <a:spcPct val="100000"/>
              </a:lnSpc>
            </a:pPr>
            <a:r>
              <a:rPr sz="1300" b="1">
                <a:solidFill>
                  <a:srgbClr val="C98A2C"/>
                </a:solidFill>
                <a:latin typeface="Calibri"/>
              </a:rPr>
              <a:t>STAGE 1</a:t>
            </a:r>
          </a:p>
        </p:txBody>
      </p:sp>
      <p:sp>
        <p:nvSpPr>
          <p:cNvPr id="4" name="TextBox 3"/>
          <p:cNvSpPr txBox="1"/>
          <p:nvPr/>
        </p:nvSpPr>
        <p:spPr>
          <a:xfrm>
            <a:off x="502920" y="384048"/>
            <a:ext cx="10515600" cy="594360"/>
          </a:xfrm>
          <a:prstGeom prst="rect">
            <a:avLst/>
          </a:prstGeom>
          <a:noFill/>
        </p:spPr>
        <p:txBody>
          <a:bodyPr wrap="square" anchor="t">
            <a:spAutoFit/>
          </a:bodyPr>
          <a:lstStyle/>
          <a:p>
            <a:pPr algn="l">
              <a:lnSpc>
                <a:spcPct val="100000"/>
              </a:lnSpc>
            </a:pPr>
            <a:r>
              <a:rPr sz="2700" b="1">
                <a:solidFill>
                  <a:srgbClr val="FFFFFF"/>
                </a:solidFill>
                <a:latin typeface="Calibri"/>
              </a:rPr>
              <a:t>Stage 1 Pipeline -- Yield Prediction Engine</a:t>
            </a:r>
          </a:p>
        </p:txBody>
      </p:sp>
      <p:sp>
        <p:nvSpPr>
          <p:cNvPr id="5" name="TextBox 4"/>
          <p:cNvSpPr txBox="1"/>
          <p:nvPr/>
        </p:nvSpPr>
        <p:spPr>
          <a:xfrm>
            <a:off x="11292840" y="384048"/>
            <a:ext cx="731520" cy="365760"/>
          </a:xfrm>
          <a:prstGeom prst="rect">
            <a:avLst/>
          </a:prstGeom>
          <a:noFill/>
        </p:spPr>
        <p:txBody>
          <a:bodyPr wrap="square" anchor="t">
            <a:spAutoFit/>
          </a:bodyPr>
          <a:lstStyle/>
          <a:p>
            <a:pPr algn="r">
              <a:lnSpc>
                <a:spcPct val="100000"/>
              </a:lnSpc>
            </a:pPr>
            <a:r>
              <a:rPr sz="1300" b="0">
                <a:solidFill>
                  <a:srgbClr val="B8C2D0"/>
                </a:solidFill>
                <a:latin typeface="Calibri"/>
              </a:rPr>
              <a:t>6/15</a:t>
            </a:r>
          </a:p>
        </p:txBody>
      </p:sp>
      <p:sp>
        <p:nvSpPr>
          <p:cNvPr id="6" name="Rounded Rectangle 5"/>
          <p:cNvSpPr/>
          <p:nvPr/>
        </p:nvSpPr>
        <p:spPr>
          <a:xfrm>
            <a:off x="502920" y="2194560"/>
            <a:ext cx="1691640" cy="1051560"/>
          </a:xfrm>
          <a:prstGeom prst="roundRect">
            <a:avLst/>
          </a:prstGeom>
          <a:solidFill>
            <a:srgbClr val="2E5B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00" b="1">
                <a:solidFill>
                  <a:srgbClr val="FFFFFF"/>
                </a:solidFill>
              </a:rPr>
              <a:t>Raw data</a:t>
            </a:r>
            <a:br/>
            <a:r>
              <a:rPr sz="1200" b="1">
                <a:solidFill>
                  <a:srgbClr val="FFFFFF"/>
                </a:solidFill>
              </a:rPr>
              <a:t>(1,430 cols)</a:t>
            </a:r>
          </a:p>
        </p:txBody>
      </p:sp>
      <p:cxnSp>
        <p:nvCxnSpPr>
          <p:cNvPr id="7" name="Connector 6"/>
          <p:cNvCxnSpPr/>
          <p:nvPr/>
        </p:nvCxnSpPr>
        <p:spPr>
          <a:xfrm>
            <a:off x="2194560" y="2720340"/>
            <a:ext cx="182880" cy="0"/>
          </a:xfrm>
          <a:prstGeom prst="line">
            <a:avLst/>
          </a:prstGeom>
          <a:ln w="28575">
            <a:solidFill>
              <a:srgbClr val="5A63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377440" y="2194560"/>
            <a:ext cx="1691640" cy="1051560"/>
          </a:xfrm>
          <a:prstGeom prst="roundRect">
            <a:avLst/>
          </a:prstGeom>
          <a:solidFill>
            <a:srgbClr val="2E5B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00" b="1">
                <a:solidFill>
                  <a:srgbClr val="FFFFFF"/>
                </a:solidFill>
              </a:rPr>
              <a:t>Leakage &amp;</a:t>
            </a:r>
            <a:br/>
            <a:r>
              <a:rPr sz="1200" b="1">
                <a:solidFill>
                  <a:srgbClr val="FFFFFF"/>
                </a:solidFill>
              </a:rPr>
              <a:t>ID removal</a:t>
            </a:r>
          </a:p>
        </p:txBody>
      </p:sp>
      <p:cxnSp>
        <p:nvCxnSpPr>
          <p:cNvPr id="9" name="Connector 8"/>
          <p:cNvCxnSpPr/>
          <p:nvPr/>
        </p:nvCxnSpPr>
        <p:spPr>
          <a:xfrm>
            <a:off x="4069080" y="2720340"/>
            <a:ext cx="182880" cy="0"/>
          </a:xfrm>
          <a:prstGeom prst="line">
            <a:avLst/>
          </a:prstGeom>
          <a:ln w="28575">
            <a:solidFill>
              <a:srgbClr val="5A63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251960" y="2194560"/>
            <a:ext cx="1691640" cy="1051560"/>
          </a:xfrm>
          <a:prstGeom prst="roundRect">
            <a:avLst/>
          </a:prstGeom>
          <a:solidFill>
            <a:srgbClr val="2E5B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00" b="1">
                <a:solidFill>
                  <a:srgbClr val="FFFFFF"/>
                </a:solidFill>
              </a:rPr>
              <a:t>Original</a:t>
            </a:r>
            <a:br/>
            <a:r>
              <a:rPr sz="1200" b="1">
                <a:solidFill>
                  <a:srgbClr val="FFFFFF"/>
                </a:solidFill>
              </a:rPr>
              <a:t>predictors only</a:t>
            </a:r>
            <a:br/>
            <a:r>
              <a:rPr sz="1200" b="1">
                <a:solidFill>
                  <a:srgbClr val="FFFFFF"/>
                </a:solidFill>
              </a:rPr>
              <a:t>(1,425)</a:t>
            </a:r>
          </a:p>
        </p:txBody>
      </p:sp>
      <p:cxnSp>
        <p:nvCxnSpPr>
          <p:cNvPr id="11" name="Connector 10"/>
          <p:cNvCxnSpPr/>
          <p:nvPr/>
        </p:nvCxnSpPr>
        <p:spPr>
          <a:xfrm>
            <a:off x="5943600" y="2720340"/>
            <a:ext cx="182880" cy="0"/>
          </a:xfrm>
          <a:prstGeom prst="line">
            <a:avLst/>
          </a:prstGeom>
          <a:ln w="28575">
            <a:solidFill>
              <a:srgbClr val="5A63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126480" y="2194560"/>
            <a:ext cx="1691640" cy="1051560"/>
          </a:xfrm>
          <a:prstGeom prst="roundRect">
            <a:avLst/>
          </a:prstGeom>
          <a:solidFill>
            <a:srgbClr val="2E5B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00" b="1">
                <a:solidFill>
                  <a:srgbClr val="FFFFFF"/>
                </a:solidFill>
              </a:rPr>
              <a:t>Feature</a:t>
            </a:r>
            <a:br/>
            <a:r>
              <a:rPr sz="1200" b="1">
                <a:solidFill>
                  <a:srgbClr val="FFFFFF"/>
                </a:solidFill>
              </a:rPr>
              <a:t>selection /</a:t>
            </a:r>
            <a:br/>
            <a:r>
              <a:rPr sz="1200" b="1">
                <a:solidFill>
                  <a:srgbClr val="FFFFFF"/>
                </a:solidFill>
              </a:rPr>
              <a:t>ranking</a:t>
            </a:r>
          </a:p>
        </p:txBody>
      </p:sp>
      <p:cxnSp>
        <p:nvCxnSpPr>
          <p:cNvPr id="13" name="Connector 12"/>
          <p:cNvCxnSpPr/>
          <p:nvPr/>
        </p:nvCxnSpPr>
        <p:spPr>
          <a:xfrm>
            <a:off x="7818120" y="2720340"/>
            <a:ext cx="182880" cy="0"/>
          </a:xfrm>
          <a:prstGeom prst="line">
            <a:avLst/>
          </a:prstGeom>
          <a:ln w="28575">
            <a:solidFill>
              <a:srgbClr val="5A63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001000" y="2194560"/>
            <a:ext cx="1691640" cy="1051560"/>
          </a:xfrm>
          <a:prstGeom prst="roundRect">
            <a:avLst/>
          </a:prstGeom>
          <a:solidFill>
            <a:srgbClr val="2E5B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00" b="1">
                <a:solidFill>
                  <a:srgbClr val="FFFFFF"/>
                </a:solidFill>
              </a:rPr>
              <a:t>Model</a:t>
            </a:r>
            <a:br/>
            <a:r>
              <a:rPr sz="1200" b="1">
                <a:solidFill>
                  <a:srgbClr val="FFFFFF"/>
                </a:solidFill>
              </a:rPr>
              <a:t>comparison</a:t>
            </a:r>
          </a:p>
        </p:txBody>
      </p:sp>
      <p:cxnSp>
        <p:nvCxnSpPr>
          <p:cNvPr id="15" name="Connector 14"/>
          <p:cNvCxnSpPr/>
          <p:nvPr/>
        </p:nvCxnSpPr>
        <p:spPr>
          <a:xfrm>
            <a:off x="9692640" y="2720340"/>
            <a:ext cx="182880" cy="0"/>
          </a:xfrm>
          <a:prstGeom prst="line">
            <a:avLst/>
          </a:prstGeom>
          <a:ln w="28575">
            <a:solidFill>
              <a:srgbClr val="5A63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875520" y="2194560"/>
            <a:ext cx="1691640" cy="1051560"/>
          </a:xfrm>
          <a:prstGeom prst="roundRect">
            <a:avLst/>
          </a:prstGeom>
          <a:solidFill>
            <a:srgbClr val="2E5B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00" b="1">
                <a:solidFill>
                  <a:srgbClr val="FFFFFF"/>
                </a:solidFill>
              </a:rPr>
              <a:t>Final model</a:t>
            </a:r>
            <a:br/>
            <a:r>
              <a:rPr sz="1200" b="1">
                <a:solidFill>
                  <a:srgbClr val="FFFFFF"/>
                </a:solidFill>
              </a:rPr>
              <a:t>(ElasticNet)</a:t>
            </a:r>
          </a:p>
        </p:txBody>
      </p:sp>
      <p:sp>
        <p:nvSpPr>
          <p:cNvPr id="17" name="TextBox 16"/>
          <p:cNvSpPr txBox="1"/>
          <p:nvPr/>
        </p:nvSpPr>
        <p:spPr>
          <a:xfrm>
            <a:off x="640080" y="3749039"/>
            <a:ext cx="10789920" cy="2377440"/>
          </a:xfrm>
          <a:prstGeom prst="rect">
            <a:avLst/>
          </a:prstGeom>
          <a:noFill/>
        </p:spPr>
        <p:txBody>
          <a:bodyPr wrap="square">
            <a:spAutoFit/>
          </a:bodyPr>
          <a:lstStyle/>
          <a:p>
            <a:pPr marL="0">
              <a:spcAft>
                <a:spcPts val="1400"/>
              </a:spcAft>
            </a:pPr>
            <a:r>
              <a:rPr sz="1600" b="0">
                <a:solidFill>
                  <a:srgbClr val="222833"/>
                </a:solidFill>
                <a:latin typeface="Calibri"/>
              </a:rPr>
              <a:t>▪ Every step respects LotName grouping -- no wafer's lot-mates ever leak across train/validation/holdout.</a:t>
            </a:r>
          </a:p>
          <a:p>
            <a:pPr marL="0">
              <a:spcAft>
                <a:spcPts val="1400"/>
              </a:spcAft>
            </a:pPr>
            <a:r>
              <a:rPr sz="1600" b="0">
                <a:solidFill>
                  <a:srgbClr val="222833"/>
                </a:solidFill>
                <a:latin typeface="Calibri"/>
              </a:rPr>
              <a:t>▪ The 307 engineered features are excluded from this pipeline; feature selection ranks only the 1,425 original raw predictors.</a:t>
            </a:r>
          </a:p>
          <a:p>
            <a:pPr marL="0">
              <a:spcAft>
                <a:spcPts val="1400"/>
              </a:spcAft>
            </a:pPr>
            <a:r>
              <a:rPr sz="1600" b="0">
                <a:solidFill>
                  <a:srgbClr val="222833"/>
                </a:solidFill>
                <a:latin typeface="Calibri"/>
              </a:rPr>
              <a:t>▪ Three model families were compared fairly on the same predictor set and the same splits before selecting a final model (next slide).</a:t>
            </a:r>
          </a:p>
        </p:txBody>
      </p:sp>
      <p:sp>
        <p:nvSpPr>
          <p:cNvPr id="18" name="TextBox 17"/>
          <p:cNvSpPr txBox="1"/>
          <p:nvPr/>
        </p:nvSpPr>
        <p:spPr>
          <a:xfrm>
            <a:off x="502920" y="6537960"/>
            <a:ext cx="9144000" cy="274320"/>
          </a:xfrm>
          <a:prstGeom prst="rect">
            <a:avLst/>
          </a:prstGeom>
          <a:noFill/>
        </p:spPr>
        <p:txBody>
          <a:bodyPr wrap="square" anchor="t">
            <a:spAutoFit/>
          </a:bodyPr>
          <a:lstStyle/>
          <a:p>
            <a:pPr algn="l">
              <a:lnSpc>
                <a:spcPct val="100000"/>
              </a:lnSpc>
            </a:pPr>
            <a:r>
              <a:rPr sz="900" b="0">
                <a:solidFill>
                  <a:srgbClr val="5A6370"/>
                </a:solidFill>
                <a:latin typeface="Calibri"/>
              </a:rPr>
              <a:t>YieldMindX -- AI-Based Correlation Engine for EOL Yield Optimization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601200" cy="320040"/>
          </a:xfrm>
          <a:prstGeom prst="rect">
            <a:avLst/>
          </a:prstGeom>
          <a:noFill/>
        </p:spPr>
        <p:txBody>
          <a:bodyPr wrap="square" anchor="t">
            <a:spAutoFit/>
          </a:bodyPr>
          <a:lstStyle/>
          <a:p>
            <a:pPr algn="l">
              <a:lnSpc>
                <a:spcPct val="100000"/>
              </a:lnSpc>
            </a:pPr>
            <a:r>
              <a:rPr sz="1300" b="1">
                <a:solidFill>
                  <a:srgbClr val="C98A2C"/>
                </a:solidFill>
                <a:latin typeface="Calibri"/>
              </a:rPr>
              <a:t>STAGE 1</a:t>
            </a:r>
          </a:p>
        </p:txBody>
      </p:sp>
      <p:sp>
        <p:nvSpPr>
          <p:cNvPr id="4" name="TextBox 3"/>
          <p:cNvSpPr txBox="1"/>
          <p:nvPr/>
        </p:nvSpPr>
        <p:spPr>
          <a:xfrm>
            <a:off x="502920" y="384048"/>
            <a:ext cx="10515600" cy="594360"/>
          </a:xfrm>
          <a:prstGeom prst="rect">
            <a:avLst/>
          </a:prstGeom>
          <a:noFill/>
        </p:spPr>
        <p:txBody>
          <a:bodyPr wrap="square" anchor="t">
            <a:spAutoFit/>
          </a:bodyPr>
          <a:lstStyle/>
          <a:p>
            <a:pPr algn="l">
              <a:lnSpc>
                <a:spcPct val="100000"/>
              </a:lnSpc>
            </a:pPr>
            <a:r>
              <a:rPr sz="2700" b="1">
                <a:solidFill>
                  <a:srgbClr val="FFFFFF"/>
                </a:solidFill>
                <a:latin typeface="Calibri"/>
              </a:rPr>
              <a:t>Stage 1 Models and Metrics</a:t>
            </a:r>
          </a:p>
        </p:txBody>
      </p:sp>
      <p:sp>
        <p:nvSpPr>
          <p:cNvPr id="5" name="TextBox 4"/>
          <p:cNvSpPr txBox="1"/>
          <p:nvPr/>
        </p:nvSpPr>
        <p:spPr>
          <a:xfrm>
            <a:off x="11292840" y="384048"/>
            <a:ext cx="731520" cy="365760"/>
          </a:xfrm>
          <a:prstGeom prst="rect">
            <a:avLst/>
          </a:prstGeom>
          <a:noFill/>
        </p:spPr>
        <p:txBody>
          <a:bodyPr wrap="square" anchor="t">
            <a:spAutoFit/>
          </a:bodyPr>
          <a:lstStyle/>
          <a:p>
            <a:pPr algn="r">
              <a:lnSpc>
                <a:spcPct val="100000"/>
              </a:lnSpc>
            </a:pPr>
            <a:r>
              <a:rPr sz="1300" b="0">
                <a:solidFill>
                  <a:srgbClr val="B8C2D0"/>
                </a:solidFill>
                <a:latin typeface="Calibri"/>
              </a:rPr>
              <a:t>7/15</a:t>
            </a:r>
          </a:p>
        </p:txBody>
      </p:sp>
      <p:graphicFrame>
        <p:nvGraphicFramePr>
          <p:cNvPr id="6" name="Table 5"/>
          <p:cNvGraphicFramePr>
            <a:graphicFrameLocks noGrp="1"/>
          </p:cNvGraphicFramePr>
          <p:nvPr/>
        </p:nvGraphicFramePr>
        <p:xfrm>
          <a:off x="640080" y="1417320"/>
          <a:ext cx="10789920" cy="1554480"/>
        </p:xfrm>
        <a:graphic>
          <a:graphicData uri="http://schemas.openxmlformats.org/drawingml/2006/table">
            <a:tbl>
              <a:tblPr bandRow="1">
                <a:tableStyleId>{5C22544A-7EE6-4342-B048-85BDC9FD1C3A}</a:tableStyleId>
              </a:tblPr>
              <a:tblGrid>
                <a:gridCol w="2377440"/>
                <a:gridCol w="1737360"/>
                <a:gridCol w="1737360"/>
                <a:gridCol w="1645920"/>
                <a:gridCol w="1737360"/>
                <a:gridCol w="1554480"/>
              </a:tblGrid>
              <a:tr h="388620">
                <a:tc>
                  <a:txBody>
                    <a:bodyPr/>
                    <a:lstStyle/>
                    <a:p>
                      <a:pPr algn="ctr"/>
                      <a:r>
                        <a:rPr b="1" sz="1350">
                          <a:solidFill>
                            <a:srgbClr val="FFFFFF"/>
                          </a:solidFill>
                        </a:rPr>
                        <a:t>Model</a:t>
                      </a:r>
                    </a:p>
                  </a:txBody>
                  <a:tcPr anchor="ctr">
                    <a:solidFill>
                      <a:srgbClr val="1B2A4A"/>
                    </a:solidFill>
                  </a:tcPr>
                </a:tc>
                <a:tc>
                  <a:txBody>
                    <a:bodyPr/>
                    <a:lstStyle/>
                    <a:p>
                      <a:pPr algn="ctr"/>
                      <a:r>
                        <a:rPr b="1" sz="1350">
                          <a:solidFill>
                            <a:srgbClr val="FFFFFF"/>
                          </a:solidFill>
                        </a:rPr>
                        <a:t>CV RMSE</a:t>
                      </a:r>
                    </a:p>
                  </a:txBody>
                  <a:tcPr anchor="ctr">
                    <a:solidFill>
                      <a:srgbClr val="1B2A4A"/>
                    </a:solidFill>
                  </a:tcPr>
                </a:tc>
                <a:tc>
                  <a:txBody>
                    <a:bodyPr/>
                    <a:lstStyle/>
                    <a:p>
                      <a:pPr algn="ctr"/>
                      <a:r>
                        <a:rPr b="1" sz="1350">
                          <a:solidFill>
                            <a:srgbClr val="FFFFFF"/>
                          </a:solidFill>
                        </a:rPr>
                        <a:t>CV MAE</a:t>
                      </a:r>
                    </a:p>
                  </a:txBody>
                  <a:tcPr anchor="ctr">
                    <a:solidFill>
                      <a:srgbClr val="1B2A4A"/>
                    </a:solidFill>
                  </a:tcPr>
                </a:tc>
                <a:tc>
                  <a:txBody>
                    <a:bodyPr/>
                    <a:lstStyle/>
                    <a:p>
                      <a:pPr algn="ctr"/>
                      <a:r>
                        <a:rPr b="1" sz="1350">
                          <a:solidFill>
                            <a:srgbClr val="FFFFFF"/>
                          </a:solidFill>
                        </a:rPr>
                        <a:t>CV R²</a:t>
                      </a:r>
                    </a:p>
                  </a:txBody>
                  <a:tcPr anchor="ctr">
                    <a:solidFill>
                      <a:srgbClr val="1B2A4A"/>
                    </a:solidFill>
                  </a:tcPr>
                </a:tc>
                <a:tc>
                  <a:txBody>
                    <a:bodyPr/>
                    <a:lstStyle/>
                    <a:p>
                      <a:pPr algn="ctr"/>
                      <a:r>
                        <a:rPr b="1" sz="1350">
                          <a:solidFill>
                            <a:srgbClr val="FFFFFF"/>
                          </a:solidFill>
                        </a:rPr>
                        <a:t>Holdout RMSE</a:t>
                      </a:r>
                    </a:p>
                  </a:txBody>
                  <a:tcPr anchor="ctr">
                    <a:solidFill>
                      <a:srgbClr val="1B2A4A"/>
                    </a:solidFill>
                  </a:tcPr>
                </a:tc>
                <a:tc>
                  <a:txBody>
                    <a:bodyPr/>
                    <a:lstStyle/>
                    <a:p>
                      <a:pPr algn="ctr"/>
                      <a:r>
                        <a:rPr b="1" sz="1350">
                          <a:solidFill>
                            <a:srgbClr val="FFFFFF"/>
                          </a:solidFill>
                        </a:rPr>
                        <a:t>Holdout R²</a:t>
                      </a:r>
                    </a:p>
                  </a:txBody>
                  <a:tcPr anchor="ctr">
                    <a:solidFill>
                      <a:srgbClr val="1B2A4A"/>
                    </a:solidFill>
                  </a:tcPr>
                </a:tc>
              </a:tr>
              <a:tr h="388620">
                <a:tc>
                  <a:txBody>
                    <a:bodyPr/>
                    <a:lstStyle/>
                    <a:p>
                      <a:pPr algn="l"/>
                      <a:r>
                        <a:rPr sz="1400">
                          <a:solidFill>
                            <a:srgbClr val="222833"/>
                          </a:solidFill>
                        </a:rPr>
                        <a:t>ElasticNet</a:t>
                      </a:r>
                    </a:p>
                  </a:txBody>
                  <a:tcPr anchor="ctr">
                    <a:solidFill>
                      <a:srgbClr val="E8F1E9"/>
                    </a:solidFill>
                  </a:tcPr>
                </a:tc>
                <a:tc>
                  <a:txBody>
                    <a:bodyPr/>
                    <a:lstStyle/>
                    <a:p>
                      <a:pPr algn="ctr"/>
                      <a:r>
                        <a:rPr sz="1400">
                          <a:solidFill>
                            <a:srgbClr val="222833"/>
                          </a:solidFill>
                        </a:rPr>
                        <a:t>0.189</a:t>
                      </a:r>
                    </a:p>
                  </a:txBody>
                  <a:tcPr anchor="ctr">
                    <a:solidFill>
                      <a:srgbClr val="E8F1E9"/>
                    </a:solidFill>
                  </a:tcPr>
                </a:tc>
                <a:tc>
                  <a:txBody>
                    <a:bodyPr/>
                    <a:lstStyle/>
                    <a:p>
                      <a:pPr algn="ctr"/>
                      <a:r>
                        <a:rPr sz="1400">
                          <a:solidFill>
                            <a:srgbClr val="222833"/>
                          </a:solidFill>
                        </a:rPr>
                        <a:t>0.150</a:t>
                      </a:r>
                    </a:p>
                  </a:txBody>
                  <a:tcPr anchor="ctr">
                    <a:solidFill>
                      <a:srgbClr val="E8F1E9"/>
                    </a:solidFill>
                  </a:tcPr>
                </a:tc>
                <a:tc>
                  <a:txBody>
                    <a:bodyPr/>
                    <a:lstStyle/>
                    <a:p>
                      <a:pPr algn="ctr"/>
                      <a:r>
                        <a:rPr sz="1400">
                          <a:solidFill>
                            <a:srgbClr val="222833"/>
                          </a:solidFill>
                        </a:rPr>
                        <a:t>0.9927</a:t>
                      </a:r>
                    </a:p>
                  </a:txBody>
                  <a:tcPr anchor="ctr">
                    <a:solidFill>
                      <a:srgbClr val="E8F1E9"/>
                    </a:solidFill>
                  </a:tcPr>
                </a:tc>
                <a:tc>
                  <a:txBody>
                    <a:bodyPr/>
                    <a:lstStyle/>
                    <a:p>
                      <a:pPr algn="ctr"/>
                      <a:r>
                        <a:rPr sz="1400">
                          <a:solidFill>
                            <a:srgbClr val="222833"/>
                          </a:solidFill>
                        </a:rPr>
                        <a:t>0.170</a:t>
                      </a:r>
                    </a:p>
                  </a:txBody>
                  <a:tcPr anchor="ctr">
                    <a:solidFill>
                      <a:srgbClr val="E8F1E9"/>
                    </a:solidFill>
                  </a:tcPr>
                </a:tc>
                <a:tc>
                  <a:txBody>
                    <a:bodyPr/>
                    <a:lstStyle/>
                    <a:p>
                      <a:pPr algn="ctr"/>
                      <a:r>
                        <a:rPr sz="1400">
                          <a:solidFill>
                            <a:srgbClr val="222833"/>
                          </a:solidFill>
                        </a:rPr>
                        <a:t>0.9943</a:t>
                      </a:r>
                    </a:p>
                  </a:txBody>
                  <a:tcPr anchor="ctr">
                    <a:solidFill>
                      <a:srgbClr val="E8F1E9"/>
                    </a:solidFill>
                  </a:tcPr>
                </a:tc>
              </a:tr>
              <a:tr h="388620">
                <a:tc>
                  <a:txBody>
                    <a:bodyPr/>
                    <a:lstStyle/>
                    <a:p>
                      <a:pPr algn="l"/>
                      <a:r>
                        <a:rPr sz="1400">
                          <a:solidFill>
                            <a:srgbClr val="222833"/>
                          </a:solidFill>
                        </a:rPr>
                        <a:t>LightGBM</a:t>
                      </a:r>
                    </a:p>
                  </a:txBody>
                  <a:tcPr anchor="ctr">
                    <a:solidFill>
                      <a:srgbClr val="F4F6F8"/>
                    </a:solidFill>
                  </a:tcPr>
                </a:tc>
                <a:tc>
                  <a:txBody>
                    <a:bodyPr/>
                    <a:lstStyle/>
                    <a:p>
                      <a:pPr algn="ctr"/>
                      <a:r>
                        <a:rPr sz="1400">
                          <a:solidFill>
                            <a:srgbClr val="222833"/>
                          </a:solidFill>
                        </a:rPr>
                        <a:t>0.220</a:t>
                      </a:r>
                    </a:p>
                  </a:txBody>
                  <a:tcPr anchor="ctr">
                    <a:solidFill>
                      <a:srgbClr val="F4F6F8"/>
                    </a:solidFill>
                  </a:tcPr>
                </a:tc>
                <a:tc>
                  <a:txBody>
                    <a:bodyPr/>
                    <a:lstStyle/>
                    <a:p>
                      <a:pPr algn="ctr"/>
                      <a:r>
                        <a:rPr sz="1400">
                          <a:solidFill>
                            <a:srgbClr val="222833"/>
                          </a:solidFill>
                        </a:rPr>
                        <a:t>0.140</a:t>
                      </a:r>
                    </a:p>
                  </a:txBody>
                  <a:tcPr anchor="ctr">
                    <a:solidFill>
                      <a:srgbClr val="F4F6F8"/>
                    </a:solidFill>
                  </a:tcPr>
                </a:tc>
                <a:tc>
                  <a:txBody>
                    <a:bodyPr/>
                    <a:lstStyle/>
                    <a:p>
                      <a:pPr algn="ctr"/>
                      <a:r>
                        <a:rPr sz="1400">
                          <a:solidFill>
                            <a:srgbClr val="222833"/>
                          </a:solidFill>
                        </a:rPr>
                        <a:t>0.9901</a:t>
                      </a:r>
                    </a:p>
                  </a:txBody>
                  <a:tcPr anchor="ctr">
                    <a:solidFill>
                      <a:srgbClr val="F4F6F8"/>
                    </a:solidFill>
                  </a:tcPr>
                </a:tc>
                <a:tc>
                  <a:txBody>
                    <a:bodyPr/>
                    <a:lstStyle/>
                    <a:p>
                      <a:pPr algn="ctr"/>
                      <a:r>
                        <a:rPr sz="1400">
                          <a:solidFill>
                            <a:srgbClr val="222833"/>
                          </a:solidFill>
                        </a:rPr>
                        <a:t>0.178</a:t>
                      </a:r>
                    </a:p>
                  </a:txBody>
                  <a:tcPr anchor="ctr">
                    <a:solidFill>
                      <a:srgbClr val="F4F6F8"/>
                    </a:solidFill>
                  </a:tcPr>
                </a:tc>
                <a:tc>
                  <a:txBody>
                    <a:bodyPr/>
                    <a:lstStyle/>
                    <a:p>
                      <a:pPr algn="ctr"/>
                      <a:r>
                        <a:rPr sz="1400">
                          <a:solidFill>
                            <a:srgbClr val="222833"/>
                          </a:solidFill>
                        </a:rPr>
                        <a:t>0.9937</a:t>
                      </a:r>
                    </a:p>
                  </a:txBody>
                  <a:tcPr anchor="ctr">
                    <a:solidFill>
                      <a:srgbClr val="F4F6F8"/>
                    </a:solidFill>
                  </a:tcPr>
                </a:tc>
              </a:tr>
              <a:tr h="388620">
                <a:tc>
                  <a:txBody>
                    <a:bodyPr/>
                    <a:lstStyle/>
                    <a:p>
                      <a:pPr algn="l"/>
                      <a:r>
                        <a:rPr sz="1400">
                          <a:solidFill>
                            <a:srgbClr val="222833"/>
                          </a:solidFill>
                        </a:rPr>
                        <a:t>Random Forest</a:t>
                      </a:r>
                    </a:p>
                  </a:txBody>
                  <a:tcPr anchor="ctr">
                    <a:solidFill>
                      <a:srgbClr val="FFFFFF"/>
                    </a:solidFill>
                  </a:tcPr>
                </a:tc>
                <a:tc>
                  <a:txBody>
                    <a:bodyPr/>
                    <a:lstStyle/>
                    <a:p>
                      <a:pPr algn="ctr"/>
                      <a:r>
                        <a:rPr sz="1400">
                          <a:solidFill>
                            <a:srgbClr val="222833"/>
                          </a:solidFill>
                        </a:rPr>
                        <a:t>0.350</a:t>
                      </a:r>
                    </a:p>
                  </a:txBody>
                  <a:tcPr anchor="ctr">
                    <a:solidFill>
                      <a:srgbClr val="FFFFFF"/>
                    </a:solidFill>
                  </a:tcPr>
                </a:tc>
                <a:tc>
                  <a:txBody>
                    <a:bodyPr/>
                    <a:lstStyle/>
                    <a:p>
                      <a:pPr algn="ctr"/>
                      <a:r>
                        <a:rPr sz="1400">
                          <a:solidFill>
                            <a:srgbClr val="222833"/>
                          </a:solidFill>
                        </a:rPr>
                        <a:t>0.253</a:t>
                      </a:r>
                    </a:p>
                  </a:txBody>
                  <a:tcPr anchor="ctr">
                    <a:solidFill>
                      <a:srgbClr val="FFFFFF"/>
                    </a:solidFill>
                  </a:tcPr>
                </a:tc>
                <a:tc>
                  <a:txBody>
                    <a:bodyPr/>
                    <a:lstStyle/>
                    <a:p>
                      <a:pPr algn="ctr"/>
                      <a:r>
                        <a:rPr sz="1400">
                          <a:solidFill>
                            <a:srgbClr val="222833"/>
                          </a:solidFill>
                        </a:rPr>
                        <a:t>0.9756</a:t>
                      </a:r>
                    </a:p>
                  </a:txBody>
                  <a:tcPr anchor="ctr">
                    <a:solidFill>
                      <a:srgbClr val="FFFFFF"/>
                    </a:solidFill>
                  </a:tcPr>
                </a:tc>
                <a:tc>
                  <a:txBody>
                    <a:bodyPr/>
                    <a:lstStyle/>
                    <a:p>
                      <a:pPr algn="ctr"/>
                      <a:r>
                        <a:rPr sz="1400">
                          <a:solidFill>
                            <a:srgbClr val="222833"/>
                          </a:solidFill>
                        </a:rPr>
                        <a:t>0.234</a:t>
                      </a:r>
                    </a:p>
                  </a:txBody>
                  <a:tcPr anchor="ctr">
                    <a:solidFill>
                      <a:srgbClr val="FFFFFF"/>
                    </a:solidFill>
                  </a:tcPr>
                </a:tc>
                <a:tc>
                  <a:txBody>
                    <a:bodyPr/>
                    <a:lstStyle/>
                    <a:p>
                      <a:pPr algn="ctr"/>
                      <a:r>
                        <a:rPr sz="1400">
                          <a:solidFill>
                            <a:srgbClr val="222833"/>
                          </a:solidFill>
                        </a:rPr>
                        <a:t>0.9891</a:t>
                      </a:r>
                    </a:p>
                  </a:txBody>
                  <a:tcPr anchor="ctr">
                    <a:solidFill>
                      <a:srgbClr val="FFFFFF"/>
                    </a:solidFill>
                  </a:tcPr>
                </a:tc>
              </a:tr>
            </a:tbl>
          </a:graphicData>
        </a:graphic>
      </p:graphicFrame>
      <p:sp>
        <p:nvSpPr>
          <p:cNvPr id="7" name="Rounded Rectangle 6"/>
          <p:cNvSpPr/>
          <p:nvPr/>
        </p:nvSpPr>
        <p:spPr>
          <a:xfrm>
            <a:off x="640080" y="3154680"/>
            <a:ext cx="10789920" cy="77724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246120"/>
            <a:ext cx="10332720" cy="292608"/>
          </a:xfrm>
          <a:prstGeom prst="rect">
            <a:avLst/>
          </a:prstGeom>
          <a:noFill/>
        </p:spPr>
        <p:txBody>
          <a:bodyPr wrap="square" anchor="t">
            <a:spAutoFit/>
          </a:bodyPr>
          <a:lstStyle/>
          <a:p>
            <a:pPr algn="l">
              <a:lnSpc>
                <a:spcPct val="100000"/>
              </a:lnSpc>
            </a:pPr>
            <a:r>
              <a:rPr sz="1250" b="1">
                <a:solidFill>
                  <a:srgbClr val="1B2A4A"/>
                </a:solidFill>
                <a:latin typeface="Calibri"/>
              </a:rPr>
              <a:t>Metric formulas</a:t>
            </a:r>
          </a:p>
        </p:txBody>
      </p:sp>
      <p:sp>
        <p:nvSpPr>
          <p:cNvPr id="9" name="TextBox 8"/>
          <p:cNvSpPr txBox="1"/>
          <p:nvPr/>
        </p:nvSpPr>
        <p:spPr>
          <a:xfrm>
            <a:off x="868680" y="3538728"/>
            <a:ext cx="10332720" cy="320040"/>
          </a:xfrm>
          <a:prstGeom prst="rect">
            <a:avLst/>
          </a:prstGeom>
          <a:noFill/>
        </p:spPr>
        <p:txBody>
          <a:bodyPr wrap="square" anchor="t">
            <a:spAutoFit/>
          </a:bodyPr>
          <a:lstStyle/>
          <a:p>
            <a:pPr algn="l">
              <a:lnSpc>
                <a:spcPct val="100000"/>
              </a:lnSpc>
            </a:pPr>
            <a:r>
              <a:rPr sz="1300" b="0">
                <a:solidFill>
                  <a:srgbClr val="2E5B88"/>
                </a:solidFill>
                <a:latin typeface="Calibri"/>
              </a:rPr>
              <a:t>R² = 1 − SS_res / SS_tot        RMSE = sqrt( mean( (y_true − y_pred)² ) )        MAE = mean( |y_true − y_pred| )</a:t>
            </a:r>
          </a:p>
        </p:txBody>
      </p:sp>
      <p:sp>
        <p:nvSpPr>
          <p:cNvPr id="10" name="TextBox 9"/>
          <p:cNvSpPr txBox="1"/>
          <p:nvPr/>
        </p:nvSpPr>
        <p:spPr>
          <a:xfrm>
            <a:off x="640080" y="4114800"/>
            <a:ext cx="5303520" cy="2286000"/>
          </a:xfrm>
          <a:prstGeom prst="rect">
            <a:avLst/>
          </a:prstGeom>
          <a:noFill/>
        </p:spPr>
        <p:txBody>
          <a:bodyPr wrap="square">
            <a:spAutoFit/>
          </a:bodyPr>
          <a:lstStyle/>
          <a:p>
            <a:pPr marL="0">
              <a:spcAft>
                <a:spcPts val="800"/>
              </a:spcAft>
            </a:pPr>
            <a:r>
              <a:rPr sz="1350" b="0">
                <a:solidFill>
                  <a:srgbClr val="222833"/>
                </a:solidFill>
                <a:latin typeface="Calibri"/>
              </a:rPr>
              <a:t>▪ 5-fold grouped cross-validation (by LotName) -- mean across folds.</a:t>
            </a:r>
          </a:p>
          <a:p>
            <a:pPr marL="0">
              <a:spcAft>
                <a:spcPts val="800"/>
              </a:spcAft>
            </a:pPr>
            <a:r>
              <a:rPr sz="1350" b="0">
                <a:solidFill>
                  <a:srgbClr val="222833"/>
                </a:solidFill>
                <a:latin typeface="Calibri"/>
              </a:rPr>
              <a:t>▪ Untouched holdout set, evaluated once at the end.</a:t>
            </a:r>
          </a:p>
          <a:p>
            <a:pPr marL="0">
              <a:spcAft>
                <a:spcPts val="800"/>
              </a:spcAft>
            </a:pPr>
            <a:r>
              <a:rPr sz="1350" b="0">
                <a:solidFill>
                  <a:srgbClr val="222833"/>
                </a:solidFill>
                <a:latin typeface="Calibri"/>
              </a:rPr>
              <a:t>▪ Repeated-holdout stability: ElasticNet had the tightest spread across repeats (RMSE std = 0.008 vs. 0.016-0.018 for the tree models).</a:t>
            </a:r>
          </a:p>
        </p:txBody>
      </p:sp>
      <p:sp>
        <p:nvSpPr>
          <p:cNvPr id="11" name="TextBox 10"/>
          <p:cNvSpPr txBox="1"/>
          <p:nvPr/>
        </p:nvSpPr>
        <p:spPr>
          <a:xfrm>
            <a:off x="6309360" y="4114800"/>
            <a:ext cx="5120640" cy="2286000"/>
          </a:xfrm>
          <a:prstGeom prst="rect">
            <a:avLst/>
          </a:prstGeom>
          <a:noFill/>
        </p:spPr>
        <p:txBody>
          <a:bodyPr wrap="square">
            <a:spAutoFit/>
          </a:bodyPr>
          <a:lstStyle/>
          <a:p>
            <a:pPr marL="0">
              <a:spcAft>
                <a:spcPts val="800"/>
              </a:spcAft>
            </a:pPr>
            <a:r>
              <a:rPr sz="1350" b="0">
                <a:solidFill>
                  <a:srgbClr val="222833"/>
                </a:solidFill>
                <a:latin typeface="Calibri"/>
              </a:rPr>
              <a:t>▪ Target-shuffle negative control: SortingYield randomly permuted, same pipeline re-run.</a:t>
            </a:r>
          </a:p>
          <a:p>
            <a:pPr marL="0">
              <a:spcAft>
                <a:spcPts val="800"/>
              </a:spcAft>
            </a:pPr>
            <a:r>
              <a:rPr sz="1350" b="0">
                <a:solidFill>
                  <a:srgbClr val="222833"/>
                </a:solidFill>
                <a:latin typeface="Calibri"/>
              </a:rPr>
              <a:t>▪ All three models' shuffled R² collapsed far below their real R² -- no leakage detected.</a:t>
            </a:r>
          </a:p>
          <a:p>
            <a:pPr marL="0">
              <a:spcAft>
                <a:spcPts val="800"/>
              </a:spcAft>
            </a:pPr>
            <a:r>
              <a:rPr sz="1350" b="0">
                <a:solidFill>
                  <a:srgbClr val="222833"/>
                </a:solidFill>
                <a:latin typeface="Calibri"/>
              </a:rPr>
              <a:t>▪ ElasticNet's shuffled R² (-0.002) was the CLEANEST/closest-to-zero of the three.</a:t>
            </a:r>
          </a:p>
        </p:txBody>
      </p:sp>
      <p:sp>
        <p:nvSpPr>
          <p:cNvPr id="12" name="TextBox 11"/>
          <p:cNvSpPr txBox="1"/>
          <p:nvPr/>
        </p:nvSpPr>
        <p:spPr>
          <a:xfrm>
            <a:off x="502920" y="6537960"/>
            <a:ext cx="9144000" cy="274320"/>
          </a:xfrm>
          <a:prstGeom prst="rect">
            <a:avLst/>
          </a:prstGeom>
          <a:noFill/>
        </p:spPr>
        <p:txBody>
          <a:bodyPr wrap="square" anchor="t">
            <a:spAutoFit/>
          </a:bodyPr>
          <a:lstStyle/>
          <a:p>
            <a:pPr algn="l">
              <a:lnSpc>
                <a:spcPct val="100000"/>
              </a:lnSpc>
            </a:pPr>
            <a:r>
              <a:rPr sz="900" b="0">
                <a:solidFill>
                  <a:srgbClr val="5A6370"/>
                </a:solidFill>
                <a:latin typeface="Calibri"/>
              </a:rPr>
              <a:t>YieldMindX -- AI-Based Correlation Engine for EOL Yield Optimization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601200" cy="320040"/>
          </a:xfrm>
          <a:prstGeom prst="rect">
            <a:avLst/>
          </a:prstGeom>
          <a:noFill/>
        </p:spPr>
        <p:txBody>
          <a:bodyPr wrap="square" anchor="t">
            <a:spAutoFit/>
          </a:bodyPr>
          <a:lstStyle/>
          <a:p>
            <a:pPr algn="l">
              <a:lnSpc>
                <a:spcPct val="100000"/>
              </a:lnSpc>
            </a:pPr>
            <a:r>
              <a:rPr sz="1300" b="1">
                <a:solidFill>
                  <a:srgbClr val="C98A2C"/>
                </a:solidFill>
                <a:latin typeface="Calibri"/>
              </a:rPr>
              <a:t>STAGE 1</a:t>
            </a:r>
          </a:p>
        </p:txBody>
      </p:sp>
      <p:sp>
        <p:nvSpPr>
          <p:cNvPr id="4" name="TextBox 3"/>
          <p:cNvSpPr txBox="1"/>
          <p:nvPr/>
        </p:nvSpPr>
        <p:spPr>
          <a:xfrm>
            <a:off x="502920" y="384048"/>
            <a:ext cx="10515600" cy="594360"/>
          </a:xfrm>
          <a:prstGeom prst="rect">
            <a:avLst/>
          </a:prstGeom>
          <a:noFill/>
        </p:spPr>
        <p:txBody>
          <a:bodyPr wrap="square" anchor="t">
            <a:spAutoFit/>
          </a:bodyPr>
          <a:lstStyle/>
          <a:p>
            <a:pPr algn="l">
              <a:lnSpc>
                <a:spcPct val="100000"/>
              </a:lnSpc>
            </a:pPr>
            <a:r>
              <a:rPr sz="2700" b="1">
                <a:solidFill>
                  <a:srgbClr val="FFFFFF"/>
                </a:solidFill>
                <a:latin typeface="Calibri"/>
              </a:rPr>
              <a:t>Stage 1 Result -- Considered Closed</a:t>
            </a:r>
          </a:p>
        </p:txBody>
      </p:sp>
      <p:sp>
        <p:nvSpPr>
          <p:cNvPr id="5" name="TextBox 4"/>
          <p:cNvSpPr txBox="1"/>
          <p:nvPr/>
        </p:nvSpPr>
        <p:spPr>
          <a:xfrm>
            <a:off x="11292840" y="384048"/>
            <a:ext cx="731520" cy="365760"/>
          </a:xfrm>
          <a:prstGeom prst="rect">
            <a:avLst/>
          </a:prstGeom>
          <a:noFill/>
        </p:spPr>
        <p:txBody>
          <a:bodyPr wrap="square" anchor="t">
            <a:spAutoFit/>
          </a:bodyPr>
          <a:lstStyle/>
          <a:p>
            <a:pPr algn="r">
              <a:lnSpc>
                <a:spcPct val="100000"/>
              </a:lnSpc>
            </a:pPr>
            <a:r>
              <a:rPr sz="1300" b="0">
                <a:solidFill>
                  <a:srgbClr val="B8C2D0"/>
                </a:solidFill>
                <a:latin typeface="Calibri"/>
              </a:rPr>
              <a:t>8/15</a:t>
            </a:r>
          </a:p>
        </p:txBody>
      </p:sp>
      <p:sp>
        <p:nvSpPr>
          <p:cNvPr id="6" name="Rounded Rectangle 5"/>
          <p:cNvSpPr/>
          <p:nvPr/>
        </p:nvSpPr>
        <p:spPr>
          <a:xfrm>
            <a:off x="640080" y="1554480"/>
            <a:ext cx="457200" cy="822960"/>
          </a:xfrm>
          <a:prstGeom prst="roundRect">
            <a:avLst/>
          </a:prstGeom>
          <a:solidFill>
            <a:srgbClr val="3A8C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rPr>
              <a:t>✓</a:t>
            </a:r>
          </a:p>
        </p:txBody>
      </p:sp>
      <p:sp>
        <p:nvSpPr>
          <p:cNvPr id="7" name="TextBox 6"/>
          <p:cNvSpPr txBox="1"/>
          <p:nvPr/>
        </p:nvSpPr>
        <p:spPr>
          <a:xfrm>
            <a:off x="1280160" y="1572768"/>
            <a:ext cx="2743200" cy="365760"/>
          </a:xfrm>
          <a:prstGeom prst="rect">
            <a:avLst/>
          </a:prstGeom>
          <a:noFill/>
        </p:spPr>
        <p:txBody>
          <a:bodyPr wrap="square" anchor="t">
            <a:spAutoFit/>
          </a:bodyPr>
          <a:lstStyle/>
          <a:p>
            <a:pPr algn="l">
              <a:lnSpc>
                <a:spcPct val="100000"/>
              </a:lnSpc>
            </a:pPr>
            <a:r>
              <a:rPr sz="1600" b="1">
                <a:solidFill>
                  <a:srgbClr val="1B2A4A"/>
                </a:solidFill>
                <a:latin typeface="Calibri"/>
              </a:rPr>
              <a:t>Strong prediction</a:t>
            </a:r>
          </a:p>
        </p:txBody>
      </p:sp>
      <p:sp>
        <p:nvSpPr>
          <p:cNvPr id="8" name="TextBox 7"/>
          <p:cNvSpPr txBox="1"/>
          <p:nvPr/>
        </p:nvSpPr>
        <p:spPr>
          <a:xfrm>
            <a:off x="1280160" y="1920240"/>
            <a:ext cx="9692640" cy="502920"/>
          </a:xfrm>
          <a:prstGeom prst="rect">
            <a:avLst/>
          </a:prstGeom>
          <a:noFill/>
        </p:spPr>
        <p:txBody>
          <a:bodyPr wrap="square" anchor="t">
            <a:spAutoFit/>
          </a:bodyPr>
          <a:lstStyle/>
          <a:p>
            <a:pPr algn="l">
              <a:lnSpc>
                <a:spcPct val="100000"/>
              </a:lnSpc>
            </a:pPr>
            <a:r>
              <a:rPr sz="1350" b="0">
                <a:solidFill>
                  <a:srgbClr val="5A6370"/>
                </a:solidFill>
                <a:latin typeface="Calibri"/>
              </a:rPr>
              <a:t>Holdout R² = 0.994, RMSE = 0.17 yield points -- essentially production-grade accuracy.</a:t>
            </a:r>
          </a:p>
        </p:txBody>
      </p:sp>
      <p:sp>
        <p:nvSpPr>
          <p:cNvPr id="9" name="Rounded Rectangle 8"/>
          <p:cNvSpPr/>
          <p:nvPr/>
        </p:nvSpPr>
        <p:spPr>
          <a:xfrm>
            <a:off x="640080" y="2606040"/>
            <a:ext cx="457200" cy="822960"/>
          </a:xfrm>
          <a:prstGeom prst="roundRect">
            <a:avLst/>
          </a:prstGeom>
          <a:solidFill>
            <a:srgbClr val="3A8C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rPr>
              <a:t>✓</a:t>
            </a:r>
          </a:p>
        </p:txBody>
      </p:sp>
      <p:sp>
        <p:nvSpPr>
          <p:cNvPr id="10" name="TextBox 9"/>
          <p:cNvSpPr txBox="1"/>
          <p:nvPr/>
        </p:nvSpPr>
        <p:spPr>
          <a:xfrm>
            <a:off x="1280160" y="2624328"/>
            <a:ext cx="2743200" cy="365760"/>
          </a:xfrm>
          <a:prstGeom prst="rect">
            <a:avLst/>
          </a:prstGeom>
          <a:noFill/>
        </p:spPr>
        <p:txBody>
          <a:bodyPr wrap="square" anchor="t">
            <a:spAutoFit/>
          </a:bodyPr>
          <a:lstStyle/>
          <a:p>
            <a:pPr algn="l">
              <a:lnSpc>
                <a:spcPct val="100000"/>
              </a:lnSpc>
            </a:pPr>
            <a:r>
              <a:rPr sz="1600" b="1">
                <a:solidFill>
                  <a:srgbClr val="1B2A4A"/>
                </a:solidFill>
                <a:latin typeface="Calibri"/>
              </a:rPr>
              <a:t>Stable performance</a:t>
            </a:r>
          </a:p>
        </p:txBody>
      </p:sp>
      <p:sp>
        <p:nvSpPr>
          <p:cNvPr id="11" name="TextBox 10"/>
          <p:cNvSpPr txBox="1"/>
          <p:nvPr/>
        </p:nvSpPr>
        <p:spPr>
          <a:xfrm>
            <a:off x="1280160" y="2971800"/>
            <a:ext cx="9692640" cy="502920"/>
          </a:xfrm>
          <a:prstGeom prst="rect">
            <a:avLst/>
          </a:prstGeom>
          <a:noFill/>
        </p:spPr>
        <p:txBody>
          <a:bodyPr wrap="square" anchor="t">
            <a:spAutoFit/>
          </a:bodyPr>
          <a:lstStyle/>
          <a:p>
            <a:pPr algn="l">
              <a:lnSpc>
                <a:spcPct val="100000"/>
              </a:lnSpc>
            </a:pPr>
            <a:r>
              <a:rPr sz="1350" b="0">
                <a:solidFill>
                  <a:srgbClr val="5A6370"/>
                </a:solidFill>
                <a:latin typeface="Calibri"/>
              </a:rPr>
              <a:t>Lowest variance across 5 repeated grouped holdouts of any model tested.</a:t>
            </a:r>
          </a:p>
        </p:txBody>
      </p:sp>
      <p:sp>
        <p:nvSpPr>
          <p:cNvPr id="12" name="Rounded Rectangle 11"/>
          <p:cNvSpPr/>
          <p:nvPr/>
        </p:nvSpPr>
        <p:spPr>
          <a:xfrm>
            <a:off x="640080" y="3657600"/>
            <a:ext cx="457200" cy="822960"/>
          </a:xfrm>
          <a:prstGeom prst="roundRect">
            <a:avLst/>
          </a:prstGeom>
          <a:solidFill>
            <a:srgbClr val="3A8C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rPr>
              <a:t>✓</a:t>
            </a:r>
          </a:p>
        </p:txBody>
      </p:sp>
      <p:sp>
        <p:nvSpPr>
          <p:cNvPr id="13" name="TextBox 12"/>
          <p:cNvSpPr txBox="1"/>
          <p:nvPr/>
        </p:nvSpPr>
        <p:spPr>
          <a:xfrm>
            <a:off x="1280160" y="3675888"/>
            <a:ext cx="2743200" cy="365760"/>
          </a:xfrm>
          <a:prstGeom prst="rect">
            <a:avLst/>
          </a:prstGeom>
          <a:noFill/>
        </p:spPr>
        <p:txBody>
          <a:bodyPr wrap="square" anchor="t">
            <a:spAutoFit/>
          </a:bodyPr>
          <a:lstStyle/>
          <a:p>
            <a:pPr algn="l">
              <a:lnSpc>
                <a:spcPct val="100000"/>
              </a:lnSpc>
            </a:pPr>
            <a:r>
              <a:rPr sz="1600" b="1">
                <a:solidFill>
                  <a:srgbClr val="1B2A4A"/>
                </a:solidFill>
                <a:latin typeface="Calibri"/>
              </a:rPr>
              <a:t>Clean target-shuffle</a:t>
            </a:r>
          </a:p>
        </p:txBody>
      </p:sp>
      <p:sp>
        <p:nvSpPr>
          <p:cNvPr id="14" name="TextBox 13"/>
          <p:cNvSpPr txBox="1"/>
          <p:nvPr/>
        </p:nvSpPr>
        <p:spPr>
          <a:xfrm>
            <a:off x="1280160" y="4023360"/>
            <a:ext cx="9692640" cy="502920"/>
          </a:xfrm>
          <a:prstGeom prst="rect">
            <a:avLst/>
          </a:prstGeom>
          <a:noFill/>
        </p:spPr>
        <p:txBody>
          <a:bodyPr wrap="square" anchor="t">
            <a:spAutoFit/>
          </a:bodyPr>
          <a:lstStyle/>
          <a:p>
            <a:pPr algn="l">
              <a:lnSpc>
                <a:spcPct val="100000"/>
              </a:lnSpc>
            </a:pPr>
            <a:r>
              <a:rPr sz="1350" b="0">
                <a:solidFill>
                  <a:srgbClr val="5A6370"/>
                </a:solidFill>
                <a:latin typeface="Calibri"/>
              </a:rPr>
              <a:t>Shuffled-target R² collapses to ~0 (-0.002) -- confirms no leakage, genuine signal.</a:t>
            </a:r>
          </a:p>
        </p:txBody>
      </p:sp>
      <p:sp>
        <p:nvSpPr>
          <p:cNvPr id="15" name="Rounded Rectangle 14"/>
          <p:cNvSpPr/>
          <p:nvPr/>
        </p:nvSpPr>
        <p:spPr>
          <a:xfrm>
            <a:off x="640080" y="4709160"/>
            <a:ext cx="457200" cy="822960"/>
          </a:xfrm>
          <a:prstGeom prst="roundRect">
            <a:avLst/>
          </a:prstGeom>
          <a:solidFill>
            <a:srgbClr val="3A8C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rPr>
              <a:t>✓</a:t>
            </a:r>
          </a:p>
        </p:txBody>
      </p:sp>
      <p:sp>
        <p:nvSpPr>
          <p:cNvPr id="16" name="TextBox 15"/>
          <p:cNvSpPr txBox="1"/>
          <p:nvPr/>
        </p:nvSpPr>
        <p:spPr>
          <a:xfrm>
            <a:off x="1280160" y="4727448"/>
            <a:ext cx="2743200" cy="365760"/>
          </a:xfrm>
          <a:prstGeom prst="rect">
            <a:avLst/>
          </a:prstGeom>
          <a:noFill/>
        </p:spPr>
        <p:txBody>
          <a:bodyPr wrap="square" anchor="t">
            <a:spAutoFit/>
          </a:bodyPr>
          <a:lstStyle/>
          <a:p>
            <a:pPr algn="l">
              <a:lnSpc>
                <a:spcPct val="100000"/>
              </a:lnSpc>
            </a:pPr>
            <a:r>
              <a:rPr sz="1600" b="1">
                <a:solidFill>
                  <a:srgbClr val="1B2A4A"/>
                </a:solidFill>
                <a:latin typeface="Calibri"/>
              </a:rPr>
              <a:t>ElasticNet selected</a:t>
            </a:r>
          </a:p>
        </p:txBody>
      </p:sp>
      <p:sp>
        <p:nvSpPr>
          <p:cNvPr id="17" name="TextBox 16"/>
          <p:cNvSpPr txBox="1"/>
          <p:nvPr/>
        </p:nvSpPr>
        <p:spPr>
          <a:xfrm>
            <a:off x="1280160" y="5074920"/>
            <a:ext cx="9692640" cy="502920"/>
          </a:xfrm>
          <a:prstGeom prst="rect">
            <a:avLst/>
          </a:prstGeom>
          <a:noFill/>
        </p:spPr>
        <p:txBody>
          <a:bodyPr wrap="square" anchor="t">
            <a:spAutoFit/>
          </a:bodyPr>
          <a:lstStyle/>
          <a:p>
            <a:pPr algn="l">
              <a:lnSpc>
                <a:spcPct val="100000"/>
              </a:lnSpc>
            </a:pPr>
            <a:r>
              <a:rPr sz="1350" b="0">
                <a:solidFill>
                  <a:srgbClr val="5A6370"/>
                </a:solidFill>
                <a:latin typeface="Calibri"/>
              </a:rPr>
              <a:t>Best CV/holdout accuracy AND best stability AND cleanest shuffle behavior -- a consistent winner across every criterion, not just raw RMSE.</a:t>
            </a:r>
          </a:p>
        </p:txBody>
      </p:sp>
      <p:sp>
        <p:nvSpPr>
          <p:cNvPr id="18" name="Rounded Rectangle 17"/>
          <p:cNvSpPr/>
          <p:nvPr/>
        </p:nvSpPr>
        <p:spPr>
          <a:xfrm>
            <a:off x="640080" y="5806440"/>
            <a:ext cx="10789920" cy="59436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897880"/>
            <a:ext cx="10424160" cy="411480"/>
          </a:xfrm>
          <a:prstGeom prst="rect">
            <a:avLst/>
          </a:prstGeom>
          <a:noFill/>
        </p:spPr>
        <p:txBody>
          <a:bodyPr wrap="square" anchor="t">
            <a:spAutoFit/>
          </a:bodyPr>
          <a:lstStyle/>
          <a:p>
            <a:pPr algn="l">
              <a:lnSpc>
                <a:spcPct val="100000"/>
              </a:lnSpc>
            </a:pPr>
            <a:r>
              <a:rPr sz="1450" b="1">
                <a:solidFill>
                  <a:srgbClr val="1B2A4A"/>
                </a:solidFill>
                <a:latin typeface="Calibri"/>
              </a:rPr>
              <a:t>Conclusion: Stage 1 is CLOSED. No further prediction-model work is planned for Stage 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601200" cy="320040"/>
          </a:xfrm>
          <a:prstGeom prst="rect">
            <a:avLst/>
          </a:prstGeom>
          <a:noFill/>
        </p:spPr>
        <p:txBody>
          <a:bodyPr wrap="square" anchor="t">
            <a:spAutoFit/>
          </a:bodyPr>
          <a:lstStyle/>
          <a:p>
            <a:pPr algn="l">
              <a:lnSpc>
                <a:spcPct val="100000"/>
              </a:lnSpc>
            </a:pPr>
            <a:r>
              <a:rPr sz="1300" b="1">
                <a:solidFill>
                  <a:srgbClr val="C98A2C"/>
                </a:solidFill>
                <a:latin typeface="Calibri"/>
              </a:rPr>
              <a:t>STAGE 2</a:t>
            </a:r>
          </a:p>
        </p:txBody>
      </p:sp>
      <p:sp>
        <p:nvSpPr>
          <p:cNvPr id="4" name="TextBox 3"/>
          <p:cNvSpPr txBox="1"/>
          <p:nvPr/>
        </p:nvSpPr>
        <p:spPr>
          <a:xfrm>
            <a:off x="502920" y="384048"/>
            <a:ext cx="10515600" cy="594360"/>
          </a:xfrm>
          <a:prstGeom prst="rect">
            <a:avLst/>
          </a:prstGeom>
          <a:noFill/>
        </p:spPr>
        <p:txBody>
          <a:bodyPr wrap="square" anchor="t">
            <a:spAutoFit/>
          </a:bodyPr>
          <a:lstStyle/>
          <a:p>
            <a:pPr algn="l">
              <a:lnSpc>
                <a:spcPct val="100000"/>
              </a:lnSpc>
            </a:pPr>
            <a:r>
              <a:rPr sz="2700" b="1">
                <a:solidFill>
                  <a:srgbClr val="FFFFFF"/>
                </a:solidFill>
                <a:latin typeface="Calibri"/>
              </a:rPr>
              <a:t>Stage 2 Pipeline -- Relationship Discovery</a:t>
            </a:r>
          </a:p>
        </p:txBody>
      </p:sp>
      <p:sp>
        <p:nvSpPr>
          <p:cNvPr id="5" name="TextBox 4"/>
          <p:cNvSpPr txBox="1"/>
          <p:nvPr/>
        </p:nvSpPr>
        <p:spPr>
          <a:xfrm>
            <a:off x="11292840" y="384048"/>
            <a:ext cx="731520" cy="365760"/>
          </a:xfrm>
          <a:prstGeom prst="rect">
            <a:avLst/>
          </a:prstGeom>
          <a:noFill/>
        </p:spPr>
        <p:txBody>
          <a:bodyPr wrap="square" anchor="t">
            <a:spAutoFit/>
          </a:bodyPr>
          <a:lstStyle/>
          <a:p>
            <a:pPr algn="r">
              <a:lnSpc>
                <a:spcPct val="100000"/>
              </a:lnSpc>
            </a:pPr>
            <a:r>
              <a:rPr sz="1300" b="0">
                <a:solidFill>
                  <a:srgbClr val="B8C2D0"/>
                </a:solidFill>
                <a:latin typeface="Calibri"/>
              </a:rPr>
              <a:t>9/15</a:t>
            </a:r>
          </a:p>
        </p:txBody>
      </p:sp>
      <p:sp>
        <p:nvSpPr>
          <p:cNvPr id="6" name="Rounded Rectangle 5"/>
          <p:cNvSpPr/>
          <p:nvPr/>
        </p:nvSpPr>
        <p:spPr>
          <a:xfrm>
            <a:off x="502920" y="1600200"/>
            <a:ext cx="2331720" cy="960120"/>
          </a:xfrm>
          <a:prstGeom prst="roundRect">
            <a:avLst/>
          </a:prstGeom>
          <a:solidFill>
            <a:srgbClr val="2E5B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50" b="1">
                <a:solidFill>
                  <a:srgbClr val="FFFFFF"/>
                </a:solidFill>
              </a:rPr>
              <a:t>Run B feature</a:t>
            </a:r>
            <a:br/>
            <a:r>
              <a:rPr sz="1250" b="1">
                <a:solidFill>
                  <a:srgbClr val="FFFFFF"/>
                </a:solidFill>
              </a:rPr>
              <a:t>universe</a:t>
            </a:r>
            <a:br/>
            <a:r>
              <a:rPr sz="1250" b="1">
                <a:solidFill>
                  <a:srgbClr val="FFFFFF"/>
                </a:solidFill>
              </a:rPr>
              <a:t>(1,425 preds)</a:t>
            </a:r>
          </a:p>
        </p:txBody>
      </p:sp>
      <p:cxnSp>
        <p:nvCxnSpPr>
          <p:cNvPr id="7" name="Connector 6"/>
          <p:cNvCxnSpPr/>
          <p:nvPr/>
        </p:nvCxnSpPr>
        <p:spPr>
          <a:xfrm>
            <a:off x="2834640" y="2080260"/>
            <a:ext cx="201168" cy="0"/>
          </a:xfrm>
          <a:prstGeom prst="line">
            <a:avLst/>
          </a:prstGeom>
          <a:ln w="28575">
            <a:solidFill>
              <a:srgbClr val="5A63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035808" y="1600200"/>
            <a:ext cx="2331720" cy="960120"/>
          </a:xfrm>
          <a:prstGeom prst="roundRect">
            <a:avLst/>
          </a:prstGeom>
          <a:solidFill>
            <a:srgbClr val="2E5B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50" b="1">
                <a:solidFill>
                  <a:srgbClr val="FFFFFF"/>
                </a:solidFill>
              </a:rPr>
              <a:t>LightGBM</a:t>
            </a:r>
            <a:br/>
            <a:r>
              <a:rPr sz="1250" b="1">
                <a:solidFill>
                  <a:srgbClr val="FFFFFF"/>
                </a:solidFill>
              </a:rPr>
              <a:t>(global model)</a:t>
            </a:r>
          </a:p>
        </p:txBody>
      </p:sp>
      <p:cxnSp>
        <p:nvCxnSpPr>
          <p:cNvPr id="9" name="Connector 8"/>
          <p:cNvCxnSpPr/>
          <p:nvPr/>
        </p:nvCxnSpPr>
        <p:spPr>
          <a:xfrm>
            <a:off x="5367528" y="2080260"/>
            <a:ext cx="201168" cy="0"/>
          </a:xfrm>
          <a:prstGeom prst="line">
            <a:avLst/>
          </a:prstGeom>
          <a:ln w="28575">
            <a:solidFill>
              <a:srgbClr val="5A63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568696" y="1600200"/>
            <a:ext cx="2331720" cy="960120"/>
          </a:xfrm>
          <a:prstGeom prst="roundRect">
            <a:avLst/>
          </a:prstGeom>
          <a:solidFill>
            <a:srgbClr val="2E5B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50" b="1">
                <a:solidFill>
                  <a:srgbClr val="FFFFFF"/>
                </a:solidFill>
              </a:rPr>
              <a:t>Spline / GAM</a:t>
            </a:r>
            <a:br/>
            <a:r>
              <a:rPr sz="1250" b="1">
                <a:solidFill>
                  <a:srgbClr val="FFFFFF"/>
                </a:solidFill>
              </a:rPr>
              <a:t>(single-param)</a:t>
            </a:r>
          </a:p>
        </p:txBody>
      </p:sp>
      <p:cxnSp>
        <p:nvCxnSpPr>
          <p:cNvPr id="11" name="Connector 10"/>
          <p:cNvCxnSpPr/>
          <p:nvPr/>
        </p:nvCxnSpPr>
        <p:spPr>
          <a:xfrm>
            <a:off x="7900416" y="2080260"/>
            <a:ext cx="201168" cy="0"/>
          </a:xfrm>
          <a:prstGeom prst="line">
            <a:avLst/>
          </a:prstGeom>
          <a:ln w="28575">
            <a:solidFill>
              <a:srgbClr val="5A63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101584" y="1600200"/>
            <a:ext cx="2331720" cy="960120"/>
          </a:xfrm>
          <a:prstGeom prst="roundRect">
            <a:avLst/>
          </a:prstGeom>
          <a:solidFill>
            <a:srgbClr val="2E5B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50" b="1">
                <a:solidFill>
                  <a:srgbClr val="FFFFFF"/>
                </a:solidFill>
              </a:rPr>
              <a:t>Cross-stage</a:t>
            </a:r>
            <a:br/>
            <a:r>
              <a:rPr sz="1250" b="1">
                <a:solidFill>
                  <a:srgbClr val="FFFFFF"/>
                </a:solidFill>
              </a:rPr>
              <a:t>analysis</a:t>
            </a:r>
          </a:p>
        </p:txBody>
      </p:sp>
      <p:sp>
        <p:nvSpPr>
          <p:cNvPr id="13" name="Rounded Rectangle 12"/>
          <p:cNvSpPr/>
          <p:nvPr/>
        </p:nvSpPr>
        <p:spPr>
          <a:xfrm>
            <a:off x="502920" y="2971800"/>
            <a:ext cx="3200400" cy="960120"/>
          </a:xfrm>
          <a:prstGeom prst="roundRect">
            <a:avLst/>
          </a:prstGeom>
          <a:solidFill>
            <a:srgbClr val="2C8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50" b="1">
                <a:solidFill>
                  <a:srgbClr val="FFFFFF"/>
                </a:solidFill>
              </a:rPr>
              <a:t>Explicit 2-way /</a:t>
            </a:r>
            <a:br/>
            <a:r>
              <a:rPr sz="1250" b="1">
                <a:solidFill>
                  <a:srgbClr val="FFFFFF"/>
                </a:solidFill>
              </a:rPr>
              <a:t>3-way interaction</a:t>
            </a:r>
            <a:br/>
            <a:r>
              <a:rPr sz="1250" b="1">
                <a:solidFill>
                  <a:srgbClr val="FFFFFF"/>
                </a:solidFill>
              </a:rPr>
              <a:t>testing</a:t>
            </a:r>
          </a:p>
        </p:txBody>
      </p:sp>
      <p:cxnSp>
        <p:nvCxnSpPr>
          <p:cNvPr id="14" name="Connector 13"/>
          <p:cNvCxnSpPr/>
          <p:nvPr/>
        </p:nvCxnSpPr>
        <p:spPr>
          <a:xfrm>
            <a:off x="3703320" y="3451860"/>
            <a:ext cx="228600" cy="0"/>
          </a:xfrm>
          <a:prstGeom prst="line">
            <a:avLst/>
          </a:prstGeom>
          <a:ln w="28575">
            <a:solidFill>
              <a:srgbClr val="5A63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931920" y="2971800"/>
            <a:ext cx="3200400" cy="960120"/>
          </a:xfrm>
          <a:prstGeom prst="roundRect">
            <a:avLst/>
          </a:prstGeom>
          <a:solidFill>
            <a:srgbClr val="2C8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50" b="1">
                <a:solidFill>
                  <a:srgbClr val="FFFFFF"/>
                </a:solidFill>
              </a:rPr>
              <a:t>Candidate</a:t>
            </a:r>
            <a:br/>
            <a:r>
              <a:rPr sz="1250" b="1">
                <a:solidFill>
                  <a:srgbClr val="FFFFFF"/>
                </a:solidFill>
              </a:rPr>
              <a:t>generation</a:t>
            </a:r>
            <a:br/>
            <a:r>
              <a:rPr sz="1250" b="1">
                <a:solidFill>
                  <a:srgbClr val="FFFFFF"/>
                </a:solidFill>
              </a:rPr>
              <a:t>V1 -&gt; V5</a:t>
            </a:r>
          </a:p>
        </p:txBody>
      </p:sp>
      <p:cxnSp>
        <p:nvCxnSpPr>
          <p:cNvPr id="16" name="Connector 15"/>
          <p:cNvCxnSpPr/>
          <p:nvPr/>
        </p:nvCxnSpPr>
        <p:spPr>
          <a:xfrm>
            <a:off x="7132320" y="3451860"/>
            <a:ext cx="228600" cy="0"/>
          </a:xfrm>
          <a:prstGeom prst="line">
            <a:avLst/>
          </a:prstGeom>
          <a:ln w="28575">
            <a:solidFill>
              <a:srgbClr val="5A63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360920" y="2971800"/>
            <a:ext cx="3200400" cy="960120"/>
          </a:xfrm>
          <a:prstGeom prst="roundRect">
            <a:avLst/>
          </a:prstGeom>
          <a:solidFill>
            <a:srgbClr val="2C8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50" b="1">
                <a:solidFill>
                  <a:srgbClr val="FFFFFF"/>
                </a:solidFill>
              </a:rPr>
              <a:t>Relationship</a:t>
            </a:r>
            <a:br/>
            <a:r>
              <a:rPr sz="1250" b="1">
                <a:solidFill>
                  <a:srgbClr val="FFFFFF"/>
                </a:solidFill>
              </a:rPr>
              <a:t>Validation Engine</a:t>
            </a:r>
            <a:br/>
            <a:r>
              <a:rPr sz="1250" b="1">
                <a:solidFill>
                  <a:srgbClr val="FFFFFF"/>
                </a:solidFill>
              </a:rPr>
              <a:t>(FDR + permutation)</a:t>
            </a:r>
          </a:p>
        </p:txBody>
      </p:sp>
      <p:sp>
        <p:nvSpPr>
          <p:cNvPr id="18" name="TextBox 17"/>
          <p:cNvSpPr txBox="1"/>
          <p:nvPr/>
        </p:nvSpPr>
        <p:spPr>
          <a:xfrm>
            <a:off x="640080" y="4434840"/>
            <a:ext cx="10789920" cy="1920240"/>
          </a:xfrm>
          <a:prstGeom prst="rect">
            <a:avLst/>
          </a:prstGeom>
          <a:noFill/>
        </p:spPr>
        <p:txBody>
          <a:bodyPr wrap="square">
            <a:spAutoFit/>
          </a:bodyPr>
          <a:lstStyle/>
          <a:p>
            <a:pPr marL="0">
              <a:spcAft>
                <a:spcPts val="1000"/>
              </a:spcAft>
            </a:pPr>
            <a:r>
              <a:rPr sz="1500" b="0">
                <a:solidFill>
                  <a:srgbClr val="222833"/>
                </a:solidFill>
                <a:latin typeface="Calibri"/>
              </a:rPr>
              <a:t>▪ "Run B" = the locked Stage 2 predictor universe: original raw process/ET predictors only, zero engineered features, same leakage exclusions as Stage 1.</a:t>
            </a:r>
          </a:p>
          <a:p>
            <a:pPr marL="0">
              <a:spcAft>
                <a:spcPts val="1000"/>
              </a:spcAft>
            </a:pPr>
            <a:r>
              <a:rPr sz="1500" b="0">
                <a:solidFill>
                  <a:srgbClr val="222833"/>
                </a:solidFill>
                <a:latin typeface="Calibri"/>
              </a:rPr>
              <a:t>▪ Each stage ADDS a complementary lens on the data -- none replaces the previous one; all outputs from every version (V1-V5, MLP, EBM, Relationship Validation Engine) remain frozen and available.</a:t>
            </a:r>
          </a:p>
          <a:p>
            <a:pPr marL="0">
              <a:spcAft>
                <a:spcPts val="1000"/>
              </a:spcAft>
            </a:pPr>
            <a:r>
              <a:rPr sz="1500" b="0">
                <a:solidFill>
                  <a:srgbClr val="222833"/>
                </a:solidFill>
                <a:latin typeface="Calibri"/>
              </a:rPr>
              <a:t>▪ The whole pipeline was built and iteratively improved WITHOUT reading the synthetic ground-truth answer key -- it is used only afterward, for validation.</a:t>
            </a:r>
          </a:p>
        </p:txBody>
      </p:sp>
      <p:sp>
        <p:nvSpPr>
          <p:cNvPr id="19" name="TextBox 18"/>
          <p:cNvSpPr txBox="1"/>
          <p:nvPr/>
        </p:nvSpPr>
        <p:spPr>
          <a:xfrm>
            <a:off x="502920" y="6537960"/>
            <a:ext cx="9144000" cy="274320"/>
          </a:xfrm>
          <a:prstGeom prst="rect">
            <a:avLst/>
          </a:prstGeom>
          <a:noFill/>
        </p:spPr>
        <p:txBody>
          <a:bodyPr wrap="square" anchor="t">
            <a:spAutoFit/>
          </a:bodyPr>
          <a:lstStyle/>
          <a:p>
            <a:pPr algn="l">
              <a:lnSpc>
                <a:spcPct val="100000"/>
              </a:lnSpc>
            </a:pPr>
            <a:r>
              <a:rPr sz="900" b="0">
                <a:solidFill>
                  <a:srgbClr val="5A6370"/>
                </a:solidFill>
                <a:latin typeface="Calibri"/>
              </a:rPr>
              <a:t>YieldMindX -- AI-Based Correlation Engine for EOL Yield Optimization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601200" cy="320040"/>
          </a:xfrm>
          <a:prstGeom prst="rect">
            <a:avLst/>
          </a:prstGeom>
          <a:noFill/>
        </p:spPr>
        <p:txBody>
          <a:bodyPr wrap="square" anchor="t">
            <a:spAutoFit/>
          </a:bodyPr>
          <a:lstStyle/>
          <a:p>
            <a:pPr algn="l">
              <a:lnSpc>
                <a:spcPct val="100000"/>
              </a:lnSpc>
            </a:pPr>
            <a:r>
              <a:rPr sz="1300" b="1">
                <a:solidFill>
                  <a:srgbClr val="C98A2C"/>
                </a:solidFill>
                <a:latin typeface="Calibri"/>
              </a:rPr>
              <a:t>CONCEPT</a:t>
            </a:r>
          </a:p>
        </p:txBody>
      </p:sp>
      <p:sp>
        <p:nvSpPr>
          <p:cNvPr id="4" name="TextBox 3"/>
          <p:cNvSpPr txBox="1"/>
          <p:nvPr/>
        </p:nvSpPr>
        <p:spPr>
          <a:xfrm>
            <a:off x="502920" y="384048"/>
            <a:ext cx="10515600" cy="594360"/>
          </a:xfrm>
          <a:prstGeom prst="rect">
            <a:avLst/>
          </a:prstGeom>
          <a:noFill/>
        </p:spPr>
        <p:txBody>
          <a:bodyPr wrap="square" anchor="t">
            <a:spAutoFit/>
          </a:bodyPr>
          <a:lstStyle/>
          <a:p>
            <a:pPr algn="l">
              <a:lnSpc>
                <a:spcPct val="100000"/>
              </a:lnSpc>
            </a:pPr>
            <a:r>
              <a:rPr sz="2700" b="1">
                <a:solidFill>
                  <a:srgbClr val="FFFFFF"/>
                </a:solidFill>
                <a:latin typeface="Calibri"/>
              </a:rPr>
              <a:t>Why Prediction Is Not Enough</a:t>
            </a:r>
          </a:p>
        </p:txBody>
      </p:sp>
      <p:sp>
        <p:nvSpPr>
          <p:cNvPr id="5" name="TextBox 4"/>
          <p:cNvSpPr txBox="1"/>
          <p:nvPr/>
        </p:nvSpPr>
        <p:spPr>
          <a:xfrm>
            <a:off x="11292840" y="384048"/>
            <a:ext cx="731520" cy="365760"/>
          </a:xfrm>
          <a:prstGeom prst="rect">
            <a:avLst/>
          </a:prstGeom>
          <a:noFill/>
        </p:spPr>
        <p:txBody>
          <a:bodyPr wrap="square" anchor="t">
            <a:spAutoFit/>
          </a:bodyPr>
          <a:lstStyle/>
          <a:p>
            <a:pPr algn="r">
              <a:lnSpc>
                <a:spcPct val="100000"/>
              </a:lnSpc>
            </a:pPr>
            <a:r>
              <a:rPr sz="1300" b="0">
                <a:solidFill>
                  <a:srgbClr val="B8C2D0"/>
                </a:solidFill>
                <a:latin typeface="Calibri"/>
              </a:rPr>
              <a:t>10/15</a:t>
            </a:r>
          </a:p>
        </p:txBody>
      </p:sp>
      <p:sp>
        <p:nvSpPr>
          <p:cNvPr id="6" name="TextBox 5"/>
          <p:cNvSpPr txBox="1"/>
          <p:nvPr/>
        </p:nvSpPr>
        <p:spPr>
          <a:xfrm>
            <a:off x="640080" y="1325880"/>
            <a:ext cx="10789920" cy="822960"/>
          </a:xfrm>
          <a:prstGeom prst="rect">
            <a:avLst/>
          </a:prstGeom>
          <a:noFill/>
        </p:spPr>
        <p:txBody>
          <a:bodyPr wrap="square" anchor="t">
            <a:spAutoFit/>
          </a:bodyPr>
          <a:lstStyle/>
          <a:p>
            <a:pPr algn="l">
              <a:lnSpc>
                <a:spcPct val="100000"/>
              </a:lnSpc>
            </a:pPr>
            <a:r>
              <a:rPr sz="1600" b="0">
                <a:solidFill>
                  <a:srgbClr val="222833"/>
                </a:solidFill>
                <a:latin typeface="Calibri"/>
              </a:rPr>
              <a:t>A model that predicts yield accurately does not, by itself, tell an engineer WHICH parameter to adjust, by how much, or which combinations matter.</a:t>
            </a:r>
          </a:p>
        </p:txBody>
      </p:sp>
      <p:graphicFrame>
        <p:nvGraphicFramePr>
          <p:cNvPr id="7" name="Table 6"/>
          <p:cNvGraphicFramePr>
            <a:graphicFrameLocks noGrp="1"/>
          </p:cNvGraphicFramePr>
          <p:nvPr/>
        </p:nvGraphicFramePr>
        <p:xfrm>
          <a:off x="640080" y="2286000"/>
          <a:ext cx="10789920" cy="2514600"/>
        </p:xfrm>
        <a:graphic>
          <a:graphicData uri="http://schemas.openxmlformats.org/drawingml/2006/table">
            <a:tbl>
              <a:tblPr bandRow="1">
                <a:tableStyleId>{5C22544A-7EE6-4342-B048-85BDC9FD1C3A}</a:tableStyleId>
              </a:tblPr>
              <a:tblGrid>
                <a:gridCol w="5760720"/>
                <a:gridCol w="5029200"/>
              </a:tblGrid>
              <a:tr h="419100">
                <a:tc>
                  <a:txBody>
                    <a:bodyPr/>
                    <a:lstStyle/>
                    <a:p>
                      <a:pPr algn="ctr"/>
                      <a:r>
                        <a:rPr b="1" sz="1350">
                          <a:solidFill>
                            <a:srgbClr val="FFFFFF"/>
                          </a:solidFill>
                        </a:rPr>
                        <a:t>Question</a:t>
                      </a:r>
                    </a:p>
                  </a:txBody>
                  <a:tcPr anchor="ctr">
                    <a:solidFill>
                      <a:srgbClr val="1B2A4A"/>
                    </a:solidFill>
                  </a:tcPr>
                </a:tc>
                <a:tc>
                  <a:txBody>
                    <a:bodyPr/>
                    <a:lstStyle/>
                    <a:p>
                      <a:pPr algn="ctr"/>
                      <a:r>
                        <a:rPr b="1" sz="1350">
                          <a:solidFill>
                            <a:srgbClr val="FFFFFF"/>
                          </a:solidFill>
                        </a:rPr>
                        <a:t>Formula (simple form)</a:t>
                      </a:r>
                    </a:p>
                  </a:txBody>
                  <a:tcPr anchor="ctr">
                    <a:solidFill>
                      <a:srgbClr val="1B2A4A"/>
                    </a:solidFill>
                  </a:tcPr>
                </a:tc>
              </a:tr>
              <a:tr h="419100">
                <a:tc>
                  <a:txBody>
                    <a:bodyPr/>
                    <a:lstStyle/>
                    <a:p>
                      <a:pPr algn="l"/>
                      <a:r>
                        <a:rPr sz="1400">
                          <a:solidFill>
                            <a:srgbClr val="222833"/>
                          </a:solidFill>
                        </a:rPr>
                        <a:t>Predict yield from all predictors</a:t>
                      </a:r>
                    </a:p>
                  </a:txBody>
                  <a:tcPr anchor="ctr">
                    <a:solidFill>
                      <a:srgbClr val="FFFFFF"/>
                    </a:solidFill>
                  </a:tcPr>
                </a:tc>
                <a:tc>
                  <a:txBody>
                    <a:bodyPr/>
                    <a:lstStyle/>
                    <a:p>
                      <a:pPr algn="ctr"/>
                      <a:r>
                        <a:rPr sz="1400">
                          <a:solidFill>
                            <a:srgbClr val="222833"/>
                          </a:solidFill>
                        </a:rPr>
                        <a:t>Y ≈ f(X)</a:t>
                      </a:r>
                    </a:p>
                  </a:txBody>
                  <a:tcPr anchor="ctr">
                    <a:solidFill>
                      <a:srgbClr val="FFFFFF"/>
                    </a:solidFill>
                  </a:tcPr>
                </a:tc>
              </a:tr>
              <a:tr h="419100">
                <a:tc>
                  <a:txBody>
                    <a:bodyPr/>
                    <a:lstStyle/>
                    <a:p>
                      <a:pPr algn="l"/>
                      <a:r>
                        <a:rPr sz="1400">
                          <a:solidFill>
                            <a:srgbClr val="222833"/>
                          </a:solidFill>
                        </a:rPr>
                        <a:t>Does parameter A alone explain yield?</a:t>
                      </a:r>
                    </a:p>
                  </a:txBody>
                  <a:tcPr anchor="ctr">
                    <a:solidFill>
                      <a:srgbClr val="F4F6F8"/>
                    </a:solidFill>
                  </a:tcPr>
                </a:tc>
                <a:tc>
                  <a:txBody>
                    <a:bodyPr/>
                    <a:lstStyle/>
                    <a:p>
                      <a:pPr algn="ctr"/>
                      <a:r>
                        <a:rPr sz="1400">
                          <a:solidFill>
                            <a:srgbClr val="222833"/>
                          </a:solidFill>
                        </a:rPr>
                        <a:t>Y ≈ f(A)</a:t>
                      </a:r>
                    </a:p>
                  </a:txBody>
                  <a:tcPr anchor="ctr">
                    <a:solidFill>
                      <a:srgbClr val="F4F6F8"/>
                    </a:solidFill>
                  </a:tcPr>
                </a:tc>
              </a:tr>
              <a:tr h="419100">
                <a:tc>
                  <a:txBody>
                    <a:bodyPr/>
                    <a:lstStyle/>
                    <a:p>
                      <a:pPr algn="l"/>
                      <a:r>
                        <a:rPr sz="1400">
                          <a:solidFill>
                            <a:srgbClr val="222833"/>
                          </a:solidFill>
                        </a:rPr>
                        <a:t>Do A and B act independently (additive)?</a:t>
                      </a:r>
                    </a:p>
                  </a:txBody>
                  <a:tcPr anchor="ctr">
                    <a:solidFill>
                      <a:srgbClr val="FFFFFF"/>
                    </a:solidFill>
                  </a:tcPr>
                </a:tc>
                <a:tc>
                  <a:txBody>
                    <a:bodyPr/>
                    <a:lstStyle/>
                    <a:p>
                      <a:pPr algn="ctr"/>
                      <a:r>
                        <a:rPr sz="1400">
                          <a:solidFill>
                            <a:srgbClr val="222833"/>
                          </a:solidFill>
                        </a:rPr>
                        <a:t>Y ≈ f(A) + f(B)</a:t>
                      </a:r>
                    </a:p>
                  </a:txBody>
                  <a:tcPr anchor="ctr">
                    <a:solidFill>
                      <a:srgbClr val="FFFFFF"/>
                    </a:solidFill>
                  </a:tcPr>
                </a:tc>
              </a:tr>
              <a:tr h="419100">
                <a:tc>
                  <a:txBody>
                    <a:bodyPr/>
                    <a:lstStyle/>
                    <a:p>
                      <a:pPr algn="l"/>
                      <a:r>
                        <a:rPr sz="1400">
                          <a:solidFill>
                            <a:srgbClr val="222833"/>
                          </a:solidFill>
                        </a:rPr>
                        <a:t>Do A and B interact (joint, non-additive)?</a:t>
                      </a:r>
                    </a:p>
                  </a:txBody>
                  <a:tcPr anchor="ctr">
                    <a:solidFill>
                      <a:srgbClr val="F4F6F8"/>
                    </a:solidFill>
                  </a:tcPr>
                </a:tc>
                <a:tc>
                  <a:txBody>
                    <a:bodyPr/>
                    <a:lstStyle/>
                    <a:p>
                      <a:pPr algn="ctr"/>
                      <a:r>
                        <a:rPr sz="1400">
                          <a:solidFill>
                            <a:srgbClr val="222833"/>
                          </a:solidFill>
                        </a:rPr>
                        <a:t>Y ≈ f(A, B)</a:t>
                      </a:r>
                    </a:p>
                  </a:txBody>
                  <a:tcPr anchor="ctr">
                    <a:solidFill>
                      <a:srgbClr val="F4F6F8"/>
                    </a:solidFill>
                  </a:tcPr>
                </a:tc>
              </a:tr>
              <a:tr h="419100">
                <a:tc>
                  <a:txBody>
                    <a:bodyPr/>
                    <a:lstStyle/>
                    <a:p>
                      <a:pPr algn="l"/>
                      <a:r>
                        <a:rPr sz="1400">
                          <a:solidFill>
                            <a:srgbClr val="222833"/>
                          </a:solidFill>
                        </a:rPr>
                        <a:t>Is there a genuine 3-way effect (A, B, C)?</a:t>
                      </a:r>
                    </a:p>
                  </a:txBody>
                  <a:tcPr anchor="ctr">
                    <a:solidFill>
                      <a:srgbClr val="FFFFFF"/>
                    </a:solidFill>
                  </a:tcPr>
                </a:tc>
                <a:tc>
                  <a:txBody>
                    <a:bodyPr/>
                    <a:lstStyle/>
                    <a:p>
                      <a:pPr algn="ctr"/>
                      <a:r>
                        <a:rPr sz="1400">
                          <a:solidFill>
                            <a:srgbClr val="222833"/>
                          </a:solidFill>
                        </a:rPr>
                        <a:t>compare: main effects + pairwise  vs.  + full 3-way term</a:t>
                      </a:r>
                    </a:p>
                  </a:txBody>
                  <a:tcPr anchor="ctr">
                    <a:solidFill>
                      <a:srgbClr val="FFFFFF"/>
                    </a:solidFill>
                  </a:tcPr>
                </a:tc>
              </a:tr>
            </a:tbl>
          </a:graphicData>
        </a:graphic>
      </p:graphicFrame>
      <p:sp>
        <p:nvSpPr>
          <p:cNvPr id="8" name="Rounded Rectangle 7"/>
          <p:cNvSpPr/>
          <p:nvPr/>
        </p:nvSpPr>
        <p:spPr>
          <a:xfrm>
            <a:off x="640080" y="4937760"/>
            <a:ext cx="10789920" cy="91440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029200"/>
            <a:ext cx="10332720" cy="274320"/>
          </a:xfrm>
          <a:prstGeom prst="rect">
            <a:avLst/>
          </a:prstGeom>
          <a:noFill/>
        </p:spPr>
        <p:txBody>
          <a:bodyPr wrap="square" anchor="t">
            <a:spAutoFit/>
          </a:bodyPr>
          <a:lstStyle/>
          <a:p>
            <a:pPr algn="l">
              <a:lnSpc>
                <a:spcPct val="100000"/>
              </a:lnSpc>
            </a:pPr>
            <a:r>
              <a:rPr sz="1250" b="1">
                <a:solidFill>
                  <a:srgbClr val="1B2A4A"/>
                </a:solidFill>
                <a:latin typeface="Calibri"/>
              </a:rPr>
              <a:t>Interaction-strength formulas</a:t>
            </a:r>
          </a:p>
        </p:txBody>
      </p:sp>
      <p:sp>
        <p:nvSpPr>
          <p:cNvPr id="10" name="TextBox 9"/>
          <p:cNvSpPr txBox="1"/>
          <p:nvPr/>
        </p:nvSpPr>
        <p:spPr>
          <a:xfrm>
            <a:off x="868680" y="5321808"/>
            <a:ext cx="10332720" cy="457200"/>
          </a:xfrm>
          <a:prstGeom prst="rect">
            <a:avLst/>
          </a:prstGeom>
          <a:noFill/>
        </p:spPr>
        <p:txBody>
          <a:bodyPr wrap="square" anchor="t">
            <a:spAutoFit/>
          </a:bodyPr>
          <a:lstStyle/>
          <a:p>
            <a:pPr algn="l">
              <a:lnSpc>
                <a:spcPct val="100000"/>
              </a:lnSpc>
            </a:pPr>
            <a:r>
              <a:rPr sz="1250" b="0">
                <a:solidFill>
                  <a:srgbClr val="2E5B88"/>
                </a:solidFill>
                <a:latin typeface="Calibri"/>
              </a:rPr>
              <a:t>2-way gain = performance[f(A,B)] − performance[f(A)+f(B)]        3-way gain = performance[main+pairwise+3-way] − performance[main+pairwise]</a:t>
            </a:r>
          </a:p>
        </p:txBody>
      </p:sp>
      <p:sp>
        <p:nvSpPr>
          <p:cNvPr id="11" name="TextBox 10"/>
          <p:cNvSpPr txBox="1"/>
          <p:nvPr/>
        </p:nvSpPr>
        <p:spPr>
          <a:xfrm>
            <a:off x="502920" y="6537960"/>
            <a:ext cx="9144000" cy="274320"/>
          </a:xfrm>
          <a:prstGeom prst="rect">
            <a:avLst/>
          </a:prstGeom>
          <a:noFill/>
        </p:spPr>
        <p:txBody>
          <a:bodyPr wrap="square" anchor="t">
            <a:spAutoFit/>
          </a:bodyPr>
          <a:lstStyle/>
          <a:p>
            <a:pPr algn="l">
              <a:lnSpc>
                <a:spcPct val="100000"/>
              </a:lnSpc>
            </a:pPr>
            <a:r>
              <a:rPr sz="900" b="0">
                <a:solidFill>
                  <a:srgbClr val="5A6370"/>
                </a:solidFill>
                <a:latin typeface="Calibri"/>
              </a:rPr>
              <a:t>YieldMindX -- AI-Based Correlation Engine for EOL Yield Optimization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601200" cy="320040"/>
          </a:xfrm>
          <a:prstGeom prst="rect">
            <a:avLst/>
          </a:prstGeom>
          <a:noFill/>
        </p:spPr>
        <p:txBody>
          <a:bodyPr wrap="square" anchor="t">
            <a:spAutoFit/>
          </a:bodyPr>
          <a:lstStyle/>
          <a:p>
            <a:pPr algn="l">
              <a:lnSpc>
                <a:spcPct val="100000"/>
              </a:lnSpc>
            </a:pPr>
            <a:r>
              <a:rPr sz="1300" b="1">
                <a:solidFill>
                  <a:srgbClr val="C98A2C"/>
                </a:solidFill>
                <a:latin typeface="Calibri"/>
              </a:rPr>
              <a:t>STAGE 2</a:t>
            </a:r>
          </a:p>
        </p:txBody>
      </p:sp>
      <p:sp>
        <p:nvSpPr>
          <p:cNvPr id="4" name="TextBox 3"/>
          <p:cNvSpPr txBox="1"/>
          <p:nvPr/>
        </p:nvSpPr>
        <p:spPr>
          <a:xfrm>
            <a:off x="502920" y="384048"/>
            <a:ext cx="10515600" cy="594360"/>
          </a:xfrm>
          <a:prstGeom prst="rect">
            <a:avLst/>
          </a:prstGeom>
          <a:noFill/>
        </p:spPr>
        <p:txBody>
          <a:bodyPr wrap="square" anchor="t">
            <a:spAutoFit/>
          </a:bodyPr>
          <a:lstStyle/>
          <a:p>
            <a:pPr algn="l">
              <a:lnSpc>
                <a:spcPct val="100000"/>
              </a:lnSpc>
            </a:pPr>
            <a:r>
              <a:rPr sz="2700" b="1">
                <a:solidFill>
                  <a:srgbClr val="FFFFFF"/>
                </a:solidFill>
                <a:latin typeface="Calibri"/>
              </a:rPr>
              <a:t>Stage 2 Methods Used</a:t>
            </a:r>
          </a:p>
        </p:txBody>
      </p:sp>
      <p:sp>
        <p:nvSpPr>
          <p:cNvPr id="5" name="TextBox 4"/>
          <p:cNvSpPr txBox="1"/>
          <p:nvPr/>
        </p:nvSpPr>
        <p:spPr>
          <a:xfrm>
            <a:off x="11292840" y="384048"/>
            <a:ext cx="731520" cy="365760"/>
          </a:xfrm>
          <a:prstGeom prst="rect">
            <a:avLst/>
          </a:prstGeom>
          <a:noFill/>
        </p:spPr>
        <p:txBody>
          <a:bodyPr wrap="square" anchor="t">
            <a:spAutoFit/>
          </a:bodyPr>
          <a:lstStyle/>
          <a:p>
            <a:pPr algn="r">
              <a:lnSpc>
                <a:spcPct val="100000"/>
              </a:lnSpc>
            </a:pPr>
            <a:r>
              <a:rPr sz="1300" b="0">
                <a:solidFill>
                  <a:srgbClr val="B8C2D0"/>
                </a:solidFill>
                <a:latin typeface="Calibri"/>
              </a:rPr>
              <a:t>11/15</a:t>
            </a:r>
          </a:p>
        </p:txBody>
      </p:sp>
      <p:graphicFrame>
        <p:nvGraphicFramePr>
          <p:cNvPr id="6" name="Table 5"/>
          <p:cNvGraphicFramePr>
            <a:graphicFrameLocks noGrp="1"/>
          </p:cNvGraphicFramePr>
          <p:nvPr/>
        </p:nvGraphicFramePr>
        <p:xfrm>
          <a:off x="640080" y="1371600"/>
          <a:ext cx="10789920" cy="2834640"/>
        </p:xfrm>
        <a:graphic>
          <a:graphicData uri="http://schemas.openxmlformats.org/drawingml/2006/table">
            <a:tbl>
              <a:tblPr bandRow="1">
                <a:tableStyleId>{5C22544A-7EE6-4342-B048-85BDC9FD1C3A}</a:tableStyleId>
              </a:tblPr>
              <a:tblGrid>
                <a:gridCol w="3383280"/>
                <a:gridCol w="5120640"/>
                <a:gridCol w="2286000"/>
              </a:tblGrid>
              <a:tr h="404948">
                <a:tc>
                  <a:txBody>
                    <a:bodyPr/>
                    <a:lstStyle/>
                    <a:p>
                      <a:pPr algn="ctr"/>
                      <a:r>
                        <a:rPr b="1" sz="1350">
                          <a:solidFill>
                            <a:srgbClr val="FFFFFF"/>
                          </a:solidFill>
                        </a:rPr>
                        <a:t>Method</a:t>
                      </a:r>
                    </a:p>
                  </a:txBody>
                  <a:tcPr anchor="ctr">
                    <a:solidFill>
                      <a:srgbClr val="1B2A4A"/>
                    </a:solidFill>
                  </a:tcPr>
                </a:tc>
                <a:tc>
                  <a:txBody>
                    <a:bodyPr/>
                    <a:lstStyle/>
                    <a:p>
                      <a:pPr algn="ctr"/>
                      <a:r>
                        <a:rPr b="1" sz="1350">
                          <a:solidFill>
                            <a:srgbClr val="FFFFFF"/>
                          </a:solidFill>
                        </a:rPr>
                        <a:t>Role</a:t>
                      </a:r>
                    </a:p>
                  </a:txBody>
                  <a:tcPr anchor="ctr">
                    <a:solidFill>
                      <a:srgbClr val="1B2A4A"/>
                    </a:solidFill>
                  </a:tcPr>
                </a:tc>
                <a:tc>
                  <a:txBody>
                    <a:bodyPr/>
                    <a:lstStyle/>
                    <a:p>
                      <a:pPr algn="ctr"/>
                      <a:r>
                        <a:rPr b="1" sz="1350">
                          <a:solidFill>
                            <a:srgbClr val="FFFFFF"/>
                          </a:solidFill>
                        </a:rPr>
                        <a:t>Status</a:t>
                      </a:r>
                    </a:p>
                  </a:txBody>
                  <a:tcPr anchor="ctr">
                    <a:solidFill>
                      <a:srgbClr val="1B2A4A"/>
                    </a:solidFill>
                  </a:tcPr>
                </a:tc>
              </a:tr>
              <a:tr h="404948">
                <a:tc>
                  <a:txBody>
                    <a:bodyPr/>
                    <a:lstStyle/>
                    <a:p>
                      <a:pPr algn="l"/>
                      <a:r>
                        <a:rPr sz="1300">
                          <a:solidFill>
                            <a:srgbClr val="222833"/>
                          </a:solidFill>
                        </a:rPr>
                        <a:t>LightGBM</a:t>
                      </a:r>
                    </a:p>
                  </a:txBody>
                  <a:tcPr anchor="ctr">
                    <a:solidFill>
                      <a:srgbClr val="FFFFFF"/>
                    </a:solidFill>
                  </a:tcPr>
                </a:tc>
                <a:tc>
                  <a:txBody>
                    <a:bodyPr/>
                    <a:lstStyle/>
                    <a:p>
                      <a:pPr algn="ctr"/>
                      <a:r>
                        <a:rPr sz="1300">
                          <a:solidFill>
                            <a:srgbClr val="222833"/>
                          </a:solidFill>
                        </a:rPr>
                        <a:t>Global nonlinear model; SHAP/gain/permutation importance; base for interaction tests</a:t>
                      </a:r>
                    </a:p>
                  </a:txBody>
                  <a:tcPr anchor="ctr">
                    <a:solidFill>
                      <a:srgbClr val="FFFFFF"/>
                    </a:solidFill>
                  </a:tcPr>
                </a:tc>
                <a:tc>
                  <a:txBody>
                    <a:bodyPr/>
                    <a:lstStyle/>
                    <a:p>
                      <a:pPr algn="ctr"/>
                      <a:r>
                        <a:rPr sz="1300">
                          <a:solidFill>
                            <a:srgbClr val="222833"/>
                          </a:solidFill>
                        </a:rPr>
                        <a:t>Trusted, in use</a:t>
                      </a:r>
                    </a:p>
                  </a:txBody>
                  <a:tcPr anchor="ctr">
                    <a:solidFill>
                      <a:srgbClr val="FFFFFF"/>
                    </a:solidFill>
                  </a:tcPr>
                </a:tc>
              </a:tr>
              <a:tr h="404948">
                <a:tc>
                  <a:txBody>
                    <a:bodyPr/>
                    <a:lstStyle/>
                    <a:p>
                      <a:pPr algn="l"/>
                      <a:r>
                        <a:rPr sz="1300">
                          <a:solidFill>
                            <a:srgbClr val="222833"/>
                          </a:solidFill>
                        </a:rPr>
                        <a:t>Spline / GAM</a:t>
                      </a:r>
                    </a:p>
                  </a:txBody>
                  <a:tcPr anchor="ctr">
                    <a:solidFill>
                      <a:srgbClr val="F4F6F8"/>
                    </a:solidFill>
                  </a:tcPr>
                </a:tc>
                <a:tc>
                  <a:txBody>
                    <a:bodyPr/>
                    <a:lstStyle/>
                    <a:p>
                      <a:pPr algn="ctr"/>
                      <a:r>
                        <a:rPr sz="1300">
                          <a:solidFill>
                            <a:srgbClr val="222833"/>
                          </a:solidFill>
                        </a:rPr>
                        <a:t>Model-free single-parameter shape (thresholds, U-shapes, process windows)</a:t>
                      </a:r>
                    </a:p>
                  </a:txBody>
                  <a:tcPr anchor="ctr">
                    <a:solidFill>
                      <a:srgbClr val="F4F6F8"/>
                    </a:solidFill>
                  </a:tcPr>
                </a:tc>
                <a:tc>
                  <a:txBody>
                    <a:bodyPr/>
                    <a:lstStyle/>
                    <a:p>
                      <a:pPr algn="ctr"/>
                      <a:r>
                        <a:rPr sz="1300">
                          <a:solidFill>
                            <a:srgbClr val="222833"/>
                          </a:solidFill>
                        </a:rPr>
                        <a:t>Trusted, in use</a:t>
                      </a:r>
                    </a:p>
                  </a:txBody>
                  <a:tcPr anchor="ctr">
                    <a:solidFill>
                      <a:srgbClr val="F4F6F8"/>
                    </a:solidFill>
                  </a:tcPr>
                </a:tc>
              </a:tr>
              <a:tr h="404948">
                <a:tc>
                  <a:txBody>
                    <a:bodyPr/>
                    <a:lstStyle/>
                    <a:p>
                      <a:pPr algn="l"/>
                      <a:r>
                        <a:rPr sz="1300">
                          <a:solidFill>
                            <a:srgbClr val="222833"/>
                          </a:solidFill>
                        </a:rPr>
                        <a:t>Explicit 2-way / 3-way testing</a:t>
                      </a:r>
                    </a:p>
                  </a:txBody>
                  <a:tcPr anchor="ctr">
                    <a:solidFill>
                      <a:srgbClr val="FFFFFF"/>
                    </a:solidFill>
                  </a:tcPr>
                </a:tc>
                <a:tc>
                  <a:txBody>
                    <a:bodyPr/>
                    <a:lstStyle/>
                    <a:p>
                      <a:pPr algn="ctr"/>
                      <a:r>
                        <a:rPr sz="1300">
                          <a:solidFill>
                            <a:srgbClr val="222833"/>
                          </a:solidFill>
                        </a:rPr>
                        <a:t>Additive-vs-joint and lower-order-vs-full grouped-CV comparisons</a:t>
                      </a:r>
                    </a:p>
                  </a:txBody>
                  <a:tcPr anchor="ctr">
                    <a:solidFill>
                      <a:srgbClr val="FFFFFF"/>
                    </a:solidFill>
                  </a:tcPr>
                </a:tc>
                <a:tc>
                  <a:txBody>
                    <a:bodyPr/>
                    <a:lstStyle/>
                    <a:p>
                      <a:pPr algn="ctr"/>
                      <a:r>
                        <a:rPr sz="1300">
                          <a:solidFill>
                            <a:srgbClr val="222833"/>
                          </a:solidFill>
                        </a:rPr>
                        <a:t>Trusted, in use</a:t>
                      </a:r>
                    </a:p>
                  </a:txBody>
                  <a:tcPr anchor="ctr">
                    <a:solidFill>
                      <a:srgbClr val="FFFFFF"/>
                    </a:solidFill>
                  </a:tcPr>
                </a:tc>
              </a:tr>
              <a:tr h="404948">
                <a:tc>
                  <a:txBody>
                    <a:bodyPr/>
                    <a:lstStyle/>
                    <a:p>
                      <a:pPr algn="l"/>
                      <a:r>
                        <a:rPr sz="1300">
                          <a:solidFill>
                            <a:srgbClr val="222833"/>
                          </a:solidFill>
                        </a:rPr>
                        <a:t>Permutation / FDR validation</a:t>
                      </a:r>
                    </a:p>
                  </a:txBody>
                  <a:tcPr anchor="ctr">
                    <a:solidFill>
                      <a:srgbClr val="F4F6F8"/>
                    </a:solidFill>
                  </a:tcPr>
                </a:tc>
                <a:tc>
                  <a:txBody>
                    <a:bodyPr/>
                    <a:lstStyle/>
                    <a:p>
                      <a:pPr algn="ctr"/>
                      <a:r>
                        <a:rPr sz="1300">
                          <a:solidFill>
                            <a:srgbClr val="222833"/>
                          </a:solidFill>
                        </a:rPr>
                        <a:t>Genuine statistical significance testing (Relationship Validation Engine)</a:t>
                      </a:r>
                    </a:p>
                  </a:txBody>
                  <a:tcPr anchor="ctr">
                    <a:solidFill>
                      <a:srgbClr val="F4F6F8"/>
                    </a:solidFill>
                  </a:tcPr>
                </a:tc>
                <a:tc>
                  <a:txBody>
                    <a:bodyPr/>
                    <a:lstStyle/>
                    <a:p>
                      <a:pPr algn="ctr"/>
                      <a:r>
                        <a:rPr sz="1300">
                          <a:solidFill>
                            <a:srgbClr val="222833"/>
                          </a:solidFill>
                        </a:rPr>
                        <a:t>Trusted, in use</a:t>
                      </a:r>
                    </a:p>
                  </a:txBody>
                  <a:tcPr anchor="ctr">
                    <a:solidFill>
                      <a:srgbClr val="F4F6F8"/>
                    </a:solidFill>
                  </a:tcPr>
                </a:tc>
              </a:tr>
              <a:tr h="404948">
                <a:tc>
                  <a:txBody>
                    <a:bodyPr/>
                    <a:lstStyle/>
                    <a:p>
                      <a:pPr algn="l"/>
                      <a:r>
                        <a:rPr sz="1300">
                          <a:solidFill>
                            <a:srgbClr val="222833"/>
                          </a:solidFill>
                        </a:rPr>
                        <a:t>MLP (small neural net)</a:t>
                      </a:r>
                    </a:p>
                  </a:txBody>
                  <a:tcPr anchor="ctr">
                    <a:solidFill>
                      <a:srgbClr val="FFFFFF"/>
                    </a:solidFill>
                  </a:tcPr>
                </a:tc>
                <a:tc>
                  <a:txBody>
                    <a:bodyPr/>
                    <a:lstStyle/>
                    <a:p>
                      <a:pPr algn="ctr"/>
                      <a:r>
                        <a:rPr sz="1300">
                          <a:solidFill>
                            <a:srgbClr val="222833"/>
                          </a:solidFill>
                        </a:rPr>
                        <a:t>Tested as a complementary relationship detector</a:t>
                      </a:r>
                    </a:p>
                  </a:txBody>
                  <a:tcPr anchor="ctr">
                    <a:solidFill>
                      <a:srgbClr val="FFFFFF"/>
                    </a:solidFill>
                  </a:tcPr>
                </a:tc>
                <a:tc>
                  <a:txBody>
                    <a:bodyPr/>
                    <a:lstStyle/>
                    <a:p>
                      <a:pPr algn="ctr"/>
                      <a:r>
                        <a:rPr sz="1300">
                          <a:solidFill>
                            <a:srgbClr val="222833"/>
                          </a:solidFill>
                        </a:rPr>
                        <a:t>Rejected -- see below</a:t>
                      </a:r>
                    </a:p>
                  </a:txBody>
                  <a:tcPr anchor="ctr">
                    <a:solidFill>
                      <a:srgbClr val="FFFFFF"/>
                    </a:solidFill>
                  </a:tcPr>
                </a:tc>
              </a:tr>
              <a:tr h="404952">
                <a:tc>
                  <a:txBody>
                    <a:bodyPr/>
                    <a:lstStyle/>
                    <a:p>
                      <a:pPr algn="l"/>
                      <a:r>
                        <a:rPr sz="1300">
                          <a:solidFill>
                            <a:srgbClr val="222833"/>
                          </a:solidFill>
                        </a:rPr>
                        <a:t>EBM (Explainable Boosting Machine)</a:t>
                      </a:r>
                    </a:p>
                  </a:txBody>
                  <a:tcPr anchor="ctr">
                    <a:solidFill>
                      <a:srgbClr val="F4F6F8"/>
                    </a:solidFill>
                  </a:tcPr>
                </a:tc>
                <a:tc>
                  <a:txBody>
                    <a:bodyPr/>
                    <a:lstStyle/>
                    <a:p>
                      <a:pPr algn="ctr"/>
                      <a:r>
                        <a:rPr sz="1300">
                          <a:solidFill>
                            <a:srgbClr val="222833"/>
                          </a:solidFill>
                        </a:rPr>
                        <a:t>Tested as a complementary interpretable interaction detector</a:t>
                      </a:r>
                    </a:p>
                  </a:txBody>
                  <a:tcPr anchor="ctr">
                    <a:solidFill>
                      <a:srgbClr val="F4F6F8"/>
                    </a:solidFill>
                  </a:tcPr>
                </a:tc>
                <a:tc>
                  <a:txBody>
                    <a:bodyPr/>
                    <a:lstStyle/>
                    <a:p>
                      <a:pPr algn="ctr"/>
                      <a:r>
                        <a:rPr sz="1300">
                          <a:solidFill>
                            <a:srgbClr val="222833"/>
                          </a:solidFill>
                        </a:rPr>
                        <a:t>Rejected -- see below</a:t>
                      </a:r>
                    </a:p>
                  </a:txBody>
                  <a:tcPr anchor="ctr">
                    <a:solidFill>
                      <a:srgbClr val="F4F6F8"/>
                    </a:solidFill>
                  </a:tcPr>
                </a:tc>
              </a:tr>
            </a:tbl>
          </a:graphicData>
        </a:graphic>
      </p:graphicFrame>
      <p:sp>
        <p:nvSpPr>
          <p:cNvPr id="7" name="Rounded Rectangle 6"/>
          <p:cNvSpPr/>
          <p:nvPr/>
        </p:nvSpPr>
        <p:spPr>
          <a:xfrm>
            <a:off x="640080" y="4434840"/>
            <a:ext cx="10789920" cy="1737360"/>
          </a:xfrm>
          <a:prstGeom prst="roundRect">
            <a:avLst/>
          </a:prstGeom>
          <a:solidFill>
            <a:srgbClr val="F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572000"/>
            <a:ext cx="10332720" cy="320040"/>
          </a:xfrm>
          <a:prstGeom prst="rect">
            <a:avLst/>
          </a:prstGeom>
          <a:noFill/>
        </p:spPr>
        <p:txBody>
          <a:bodyPr wrap="square" anchor="t">
            <a:spAutoFit/>
          </a:bodyPr>
          <a:lstStyle/>
          <a:p>
            <a:pPr algn="l">
              <a:lnSpc>
                <a:spcPct val="100000"/>
              </a:lnSpc>
            </a:pPr>
            <a:r>
              <a:rPr sz="1450" b="1">
                <a:solidFill>
                  <a:srgbClr val="B53A3A"/>
                </a:solidFill>
                <a:latin typeface="Calibri"/>
              </a:rPr>
              <a:t>MLP and EBM were tested but NOT accepted as trusted relationship detectors:</a:t>
            </a:r>
          </a:p>
        </p:txBody>
      </p:sp>
      <p:sp>
        <p:nvSpPr>
          <p:cNvPr id="9" name="TextBox 8"/>
          <p:cNvSpPr txBox="1"/>
          <p:nvPr/>
        </p:nvSpPr>
        <p:spPr>
          <a:xfrm>
            <a:off x="868680" y="4937760"/>
            <a:ext cx="10241280" cy="1188720"/>
          </a:xfrm>
          <a:prstGeom prst="rect">
            <a:avLst/>
          </a:prstGeom>
          <a:noFill/>
        </p:spPr>
        <p:txBody>
          <a:bodyPr wrap="square">
            <a:spAutoFit/>
          </a:bodyPr>
          <a:lstStyle/>
          <a:p>
            <a:pPr marL="0">
              <a:spcAft>
                <a:spcPts val="600"/>
              </a:spcAft>
            </a:pPr>
            <a:r>
              <a:rPr sz="1300" b="0">
                <a:solidFill>
                  <a:srgbClr val="222833"/>
                </a:solidFill>
                <a:latin typeface="Calibri"/>
              </a:rPr>
              <a:t>▪ MLP: overall predictive signal was real (clean shuffle collapse), but its single-feature "importance" evidence did NOT separate from noise under its own negative control (86% of features looked "strong" even on a shuffled target).</a:t>
            </a:r>
          </a:p>
          <a:p>
            <a:pPr marL="0">
              <a:spcAft>
                <a:spcPts val="600"/>
              </a:spcAft>
            </a:pPr>
            <a:r>
              <a:rPr sz="1300" b="0">
                <a:solidFill>
                  <a:srgbClr val="222833"/>
                </a:solidFill>
                <a:latin typeface="Calibri"/>
              </a:rPr>
              <a:t>▪ EBM: main effects were clean and well-calibrated, but its automatic pairwise-interaction selection failed its own negative control (shuffled-target interactions scored ~190x HIGHER than the real ones) -- all 15 EBM-selected interactions were labeled inconclusive.</a:t>
            </a:r>
          </a:p>
        </p:txBody>
      </p:sp>
      <p:sp>
        <p:nvSpPr>
          <p:cNvPr id="10" name="TextBox 9"/>
          <p:cNvSpPr txBox="1"/>
          <p:nvPr/>
        </p:nvSpPr>
        <p:spPr>
          <a:xfrm>
            <a:off x="502920" y="6537960"/>
            <a:ext cx="9144000" cy="274320"/>
          </a:xfrm>
          <a:prstGeom prst="rect">
            <a:avLst/>
          </a:prstGeom>
          <a:noFill/>
        </p:spPr>
        <p:txBody>
          <a:bodyPr wrap="square" anchor="t">
            <a:spAutoFit/>
          </a:bodyPr>
          <a:lstStyle/>
          <a:p>
            <a:pPr algn="l">
              <a:lnSpc>
                <a:spcPct val="100000"/>
              </a:lnSpc>
            </a:pPr>
            <a:r>
              <a:rPr sz="900" b="0">
                <a:solidFill>
                  <a:srgbClr val="5A6370"/>
                </a:solidFill>
                <a:latin typeface="Calibri"/>
              </a:rPr>
              <a:t>YieldMindX -- AI-Based Correlation Engine for EOL Yield Optimization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601200" cy="320040"/>
          </a:xfrm>
          <a:prstGeom prst="rect">
            <a:avLst/>
          </a:prstGeom>
          <a:noFill/>
        </p:spPr>
        <p:txBody>
          <a:bodyPr wrap="square" anchor="t">
            <a:spAutoFit/>
          </a:bodyPr>
          <a:lstStyle/>
          <a:p>
            <a:pPr algn="l">
              <a:lnSpc>
                <a:spcPct val="100000"/>
              </a:lnSpc>
            </a:pPr>
            <a:r>
              <a:rPr sz="1300" b="1">
                <a:solidFill>
                  <a:srgbClr val="C98A2C"/>
                </a:solidFill>
                <a:latin typeface="Calibri"/>
              </a:rPr>
              <a:t>STAGE 2</a:t>
            </a:r>
          </a:p>
        </p:txBody>
      </p:sp>
      <p:sp>
        <p:nvSpPr>
          <p:cNvPr id="4" name="TextBox 3"/>
          <p:cNvSpPr txBox="1"/>
          <p:nvPr/>
        </p:nvSpPr>
        <p:spPr>
          <a:xfrm>
            <a:off x="502920" y="384048"/>
            <a:ext cx="10515600" cy="594360"/>
          </a:xfrm>
          <a:prstGeom prst="rect">
            <a:avLst/>
          </a:prstGeom>
          <a:noFill/>
        </p:spPr>
        <p:txBody>
          <a:bodyPr wrap="square" anchor="t">
            <a:spAutoFit/>
          </a:bodyPr>
          <a:lstStyle/>
          <a:p>
            <a:pPr algn="l">
              <a:lnSpc>
                <a:spcPct val="100000"/>
              </a:lnSpc>
            </a:pPr>
            <a:r>
              <a:rPr sz="2700" b="1">
                <a:solidFill>
                  <a:srgbClr val="FFFFFF"/>
                </a:solidFill>
                <a:latin typeface="Calibri"/>
              </a:rPr>
              <a:t>Stage 2 Validation Metrics</a:t>
            </a:r>
          </a:p>
        </p:txBody>
      </p:sp>
      <p:sp>
        <p:nvSpPr>
          <p:cNvPr id="5" name="TextBox 4"/>
          <p:cNvSpPr txBox="1"/>
          <p:nvPr/>
        </p:nvSpPr>
        <p:spPr>
          <a:xfrm>
            <a:off x="11292840" y="384048"/>
            <a:ext cx="731520" cy="365760"/>
          </a:xfrm>
          <a:prstGeom prst="rect">
            <a:avLst/>
          </a:prstGeom>
          <a:noFill/>
        </p:spPr>
        <p:txBody>
          <a:bodyPr wrap="square" anchor="t">
            <a:spAutoFit/>
          </a:bodyPr>
          <a:lstStyle/>
          <a:p>
            <a:pPr algn="r">
              <a:lnSpc>
                <a:spcPct val="100000"/>
              </a:lnSpc>
            </a:pPr>
            <a:r>
              <a:rPr sz="1300" b="0">
                <a:solidFill>
                  <a:srgbClr val="B8C2D0"/>
                </a:solidFill>
                <a:latin typeface="Calibri"/>
              </a:rPr>
              <a:t>12/15</a:t>
            </a:r>
          </a:p>
        </p:txBody>
      </p:sp>
      <p:sp>
        <p:nvSpPr>
          <p:cNvPr id="6" name="TextBox 5"/>
          <p:cNvSpPr txBox="1"/>
          <p:nvPr/>
        </p:nvSpPr>
        <p:spPr>
          <a:xfrm>
            <a:off x="640080" y="1417320"/>
            <a:ext cx="5349240" cy="4846320"/>
          </a:xfrm>
          <a:prstGeom prst="rect">
            <a:avLst/>
          </a:prstGeom>
          <a:noFill/>
        </p:spPr>
        <p:txBody>
          <a:bodyPr wrap="square">
            <a:spAutoFit/>
          </a:bodyPr>
          <a:lstStyle/>
          <a:p>
            <a:pPr marL="0">
              <a:spcAft>
                <a:spcPts val="1200"/>
              </a:spcAft>
            </a:pPr>
            <a:r>
              <a:rPr sz="1450" b="0">
                <a:solidFill>
                  <a:srgbClr val="222833"/>
                </a:solidFill>
                <a:latin typeface="Calibri"/>
              </a:rPr>
              <a:t>▪ Ground-truth recovery classification (used only in dedicated, after-the-fact validation checkpoints, never during discovery):</a:t>
            </a:r>
          </a:p>
          <a:p>
            <a:pPr marL="274320">
              <a:spcAft>
                <a:spcPts val="1200"/>
              </a:spcAft>
            </a:pPr>
            <a:r>
              <a:rPr sz="1250" b="0">
                <a:solidFill>
                  <a:srgbClr val="222833"/>
                </a:solidFill>
                <a:latin typeface="Calibri"/>
              </a:rPr>
              <a:t>– EXACT / APPROXIMATE / PARTIAL / MISSED / NOT GENERATED</a:t>
            </a:r>
          </a:p>
          <a:p>
            <a:pPr marL="0">
              <a:spcAft>
                <a:spcPts val="1200"/>
              </a:spcAft>
            </a:pPr>
            <a:r>
              <a:rPr sz="1450" b="0">
                <a:solidFill>
                  <a:srgbClr val="222833"/>
                </a:solidFill>
                <a:latin typeface="Calibri"/>
              </a:rPr>
              <a:t>▪ Grouped-fold stability: does the finding reproduce across independent LotName-grouped folds (e.g. improved in 5/5 or 4/5 folds)?</a:t>
            </a:r>
          </a:p>
          <a:p>
            <a:pPr marL="0">
              <a:spcAft>
                <a:spcPts val="1200"/>
              </a:spcAft>
            </a:pPr>
            <a:r>
              <a:rPr sz="1450" b="0">
                <a:solidFill>
                  <a:srgbClr val="222833"/>
                </a:solidFill>
                <a:latin typeface="Calibri"/>
              </a:rPr>
              <a:t>▪ Negative control / target shuffle: does the finding's evidence collapse when SortingYield is randomly shuffled? (It must, or the method isn't trustworthy.)</a:t>
            </a:r>
          </a:p>
          <a:p>
            <a:pPr marL="0">
              <a:spcAft>
                <a:spcPts val="1200"/>
              </a:spcAft>
            </a:pPr>
            <a:r>
              <a:rPr sz="1450" b="0">
                <a:solidFill>
                  <a:srgbClr val="222833"/>
                </a:solidFill>
                <a:latin typeface="Calibri"/>
              </a:rPr>
              <a:t>▪ Benjamini-Hochberg FDR: controls the expected proportion of false discoveries among everything called "significant," across thousands of simultaneous tests.</a:t>
            </a:r>
          </a:p>
        </p:txBody>
      </p:sp>
      <p:sp>
        <p:nvSpPr>
          <p:cNvPr id="7" name="TextBox 6"/>
          <p:cNvSpPr txBox="1"/>
          <p:nvPr/>
        </p:nvSpPr>
        <p:spPr>
          <a:xfrm>
            <a:off x="6263640" y="1417320"/>
            <a:ext cx="5212080" cy="4846320"/>
          </a:xfrm>
          <a:prstGeom prst="rect">
            <a:avLst/>
          </a:prstGeom>
          <a:noFill/>
        </p:spPr>
        <p:txBody>
          <a:bodyPr wrap="square">
            <a:spAutoFit/>
          </a:bodyPr>
          <a:lstStyle/>
          <a:p>
            <a:pPr marL="0">
              <a:spcAft>
                <a:spcPts val="1200"/>
              </a:spcAft>
            </a:pPr>
            <a:r>
              <a:rPr sz="1450" b="0">
                <a:solidFill>
                  <a:srgbClr val="222833"/>
                </a:solidFill>
                <a:latin typeface="Calibri"/>
              </a:rPr>
              <a:t>▪ Incremental R²: how much additional variance a joint/full model explains beyond the additive/lower-order model -- the core interaction-strength metric.</a:t>
            </a:r>
          </a:p>
          <a:p>
            <a:pPr marL="0">
              <a:spcAft>
                <a:spcPts val="1200"/>
              </a:spcAft>
            </a:pPr>
            <a:r>
              <a:rPr sz="1450" b="0">
                <a:solidFill>
                  <a:srgbClr val="222833"/>
                </a:solidFill>
                <a:latin typeface="Calibri"/>
              </a:rPr>
              <a:t>▪ Delta RMSE / delta MAE: the accuracy improvement (or lack of it) from adding an interaction term, under grouped cross-validation.</a:t>
            </a:r>
          </a:p>
          <a:p>
            <a:pPr marL="0">
              <a:spcAft>
                <a:spcPts val="1200"/>
              </a:spcAft>
            </a:pPr>
            <a:r>
              <a:rPr sz="1450" b="0">
                <a:solidFill>
                  <a:srgbClr val="222833"/>
                </a:solidFill>
                <a:latin typeface="Calibri"/>
              </a:rPr>
              <a:t>▪ Coverage: explicitly distinguishes NOT SCREENED / SCREENED BUT NOT PROMOTED / PROMOTED BUT NOT CONFIRMED / CONFIRMED, so "we didn't test it" is never confused with "we tested it and found nothing."</a:t>
            </a:r>
          </a:p>
        </p:txBody>
      </p:sp>
      <p:sp>
        <p:nvSpPr>
          <p:cNvPr id="8" name="TextBox 7"/>
          <p:cNvSpPr txBox="1"/>
          <p:nvPr/>
        </p:nvSpPr>
        <p:spPr>
          <a:xfrm>
            <a:off x="502920" y="6537960"/>
            <a:ext cx="9144000" cy="274320"/>
          </a:xfrm>
          <a:prstGeom prst="rect">
            <a:avLst/>
          </a:prstGeom>
          <a:noFill/>
        </p:spPr>
        <p:txBody>
          <a:bodyPr wrap="square" anchor="t">
            <a:spAutoFit/>
          </a:bodyPr>
          <a:lstStyle/>
          <a:p>
            <a:pPr algn="l">
              <a:lnSpc>
                <a:spcPct val="100000"/>
              </a:lnSpc>
            </a:pPr>
            <a:r>
              <a:rPr sz="900" b="0">
                <a:solidFill>
                  <a:srgbClr val="5A6370"/>
                </a:solidFill>
                <a:latin typeface="Calibri"/>
              </a:rPr>
              <a:t>YieldMindX -- AI-Based Correlation Engine for EOL Yield Optimization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601200" cy="320040"/>
          </a:xfrm>
          <a:prstGeom prst="rect">
            <a:avLst/>
          </a:prstGeom>
          <a:noFill/>
        </p:spPr>
        <p:txBody>
          <a:bodyPr wrap="square" anchor="t">
            <a:spAutoFit/>
          </a:bodyPr>
          <a:lstStyle/>
          <a:p>
            <a:pPr algn="l">
              <a:lnSpc>
                <a:spcPct val="100000"/>
              </a:lnSpc>
            </a:pPr>
            <a:r>
              <a:rPr sz="1300" b="1">
                <a:solidFill>
                  <a:srgbClr val="C98A2C"/>
                </a:solidFill>
                <a:latin typeface="Calibri"/>
              </a:rPr>
              <a:t>STAGE 2</a:t>
            </a:r>
          </a:p>
        </p:txBody>
      </p:sp>
      <p:sp>
        <p:nvSpPr>
          <p:cNvPr id="4" name="TextBox 3"/>
          <p:cNvSpPr txBox="1"/>
          <p:nvPr/>
        </p:nvSpPr>
        <p:spPr>
          <a:xfrm>
            <a:off x="502920" y="384048"/>
            <a:ext cx="10515600" cy="594360"/>
          </a:xfrm>
          <a:prstGeom prst="rect">
            <a:avLst/>
          </a:prstGeom>
          <a:noFill/>
        </p:spPr>
        <p:txBody>
          <a:bodyPr wrap="square" anchor="t">
            <a:spAutoFit/>
          </a:bodyPr>
          <a:lstStyle/>
          <a:p>
            <a:pPr algn="l">
              <a:lnSpc>
                <a:spcPct val="100000"/>
              </a:lnSpc>
            </a:pPr>
            <a:r>
              <a:rPr sz="2700" b="1">
                <a:solidFill>
                  <a:srgbClr val="FFFFFF"/>
                </a:solidFill>
                <a:latin typeface="Calibri"/>
              </a:rPr>
              <a:t>Current Stage 2 Results</a:t>
            </a:r>
          </a:p>
        </p:txBody>
      </p:sp>
      <p:sp>
        <p:nvSpPr>
          <p:cNvPr id="5" name="TextBox 4"/>
          <p:cNvSpPr txBox="1"/>
          <p:nvPr/>
        </p:nvSpPr>
        <p:spPr>
          <a:xfrm>
            <a:off x="11292840" y="384048"/>
            <a:ext cx="731520" cy="365760"/>
          </a:xfrm>
          <a:prstGeom prst="rect">
            <a:avLst/>
          </a:prstGeom>
          <a:noFill/>
        </p:spPr>
        <p:txBody>
          <a:bodyPr wrap="square" anchor="t">
            <a:spAutoFit/>
          </a:bodyPr>
          <a:lstStyle/>
          <a:p>
            <a:pPr algn="r">
              <a:lnSpc>
                <a:spcPct val="100000"/>
              </a:lnSpc>
            </a:pPr>
            <a:r>
              <a:rPr sz="1300" b="0">
                <a:solidFill>
                  <a:srgbClr val="B8C2D0"/>
                </a:solidFill>
                <a:latin typeface="Calibri"/>
              </a:rPr>
              <a:t>13/15</a:t>
            </a:r>
          </a:p>
        </p:txBody>
      </p:sp>
      <p:sp>
        <p:nvSpPr>
          <p:cNvPr id="6" name="Rounded Rectangle 5"/>
          <p:cNvSpPr/>
          <p:nvPr/>
        </p:nvSpPr>
        <p:spPr>
          <a:xfrm>
            <a:off x="640080" y="1463040"/>
            <a:ext cx="3291840" cy="137160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72768"/>
            <a:ext cx="3291840" cy="502920"/>
          </a:xfrm>
          <a:prstGeom prst="rect">
            <a:avLst/>
          </a:prstGeom>
          <a:noFill/>
        </p:spPr>
        <p:txBody>
          <a:bodyPr wrap="square" anchor="t">
            <a:spAutoFit/>
          </a:bodyPr>
          <a:lstStyle/>
          <a:p>
            <a:pPr algn="ctr">
              <a:lnSpc>
                <a:spcPct val="100000"/>
              </a:lnSpc>
            </a:pPr>
            <a:r>
              <a:rPr sz="2600" b="1">
                <a:solidFill>
                  <a:srgbClr val="3A8C5E"/>
                </a:solidFill>
                <a:latin typeface="Calibri"/>
              </a:rPr>
              <a:t>3 / 9</a:t>
            </a:r>
          </a:p>
        </p:txBody>
      </p:sp>
      <p:sp>
        <p:nvSpPr>
          <p:cNvPr id="8" name="TextBox 7"/>
          <p:cNvSpPr txBox="1"/>
          <p:nvPr/>
        </p:nvSpPr>
        <p:spPr>
          <a:xfrm>
            <a:off x="731520" y="2377440"/>
            <a:ext cx="3108960" cy="411480"/>
          </a:xfrm>
          <a:prstGeom prst="rect">
            <a:avLst/>
          </a:prstGeom>
          <a:noFill/>
        </p:spPr>
        <p:txBody>
          <a:bodyPr wrap="square" anchor="t">
            <a:spAutoFit/>
          </a:bodyPr>
          <a:lstStyle/>
          <a:p>
            <a:pPr algn="ctr">
              <a:lnSpc>
                <a:spcPct val="100000"/>
              </a:lnSpc>
            </a:pPr>
            <a:r>
              <a:rPr sz="1150" b="0">
                <a:solidFill>
                  <a:srgbClr val="5A6370"/>
                </a:solidFill>
                <a:latin typeface="Calibri"/>
              </a:rPr>
              <a:t>Exactly found</a:t>
            </a:r>
          </a:p>
        </p:txBody>
      </p:sp>
      <p:sp>
        <p:nvSpPr>
          <p:cNvPr id="9" name="Rounded Rectangle 8"/>
          <p:cNvSpPr/>
          <p:nvPr/>
        </p:nvSpPr>
        <p:spPr>
          <a:xfrm>
            <a:off x="4160520" y="1463040"/>
            <a:ext cx="3291840" cy="137160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60520" y="1572768"/>
            <a:ext cx="3291840" cy="502920"/>
          </a:xfrm>
          <a:prstGeom prst="rect">
            <a:avLst/>
          </a:prstGeom>
          <a:noFill/>
        </p:spPr>
        <p:txBody>
          <a:bodyPr wrap="square" anchor="t">
            <a:spAutoFit/>
          </a:bodyPr>
          <a:lstStyle/>
          <a:p>
            <a:pPr algn="ctr">
              <a:lnSpc>
                <a:spcPct val="100000"/>
              </a:lnSpc>
            </a:pPr>
            <a:r>
              <a:rPr sz="2600" b="1">
                <a:solidFill>
                  <a:srgbClr val="2E5B88"/>
                </a:solidFill>
                <a:latin typeface="Calibri"/>
              </a:rPr>
              <a:t>4 / 9  (44.4%)</a:t>
            </a:r>
          </a:p>
        </p:txBody>
      </p:sp>
      <p:sp>
        <p:nvSpPr>
          <p:cNvPr id="11" name="TextBox 10"/>
          <p:cNvSpPr txBox="1"/>
          <p:nvPr/>
        </p:nvSpPr>
        <p:spPr>
          <a:xfrm>
            <a:off x="4251960" y="2377440"/>
            <a:ext cx="3108960" cy="411480"/>
          </a:xfrm>
          <a:prstGeom prst="rect">
            <a:avLst/>
          </a:prstGeom>
          <a:noFill/>
        </p:spPr>
        <p:txBody>
          <a:bodyPr wrap="square" anchor="t">
            <a:spAutoFit/>
          </a:bodyPr>
          <a:lstStyle/>
          <a:p>
            <a:pPr algn="ctr">
              <a:lnSpc>
                <a:spcPct val="100000"/>
              </a:lnSpc>
            </a:pPr>
            <a:r>
              <a:rPr sz="1150" b="0">
                <a:solidFill>
                  <a:srgbClr val="5A6370"/>
                </a:solidFill>
                <a:latin typeface="Calibri"/>
              </a:rPr>
              <a:t>Exact + Approximate</a:t>
            </a:r>
          </a:p>
        </p:txBody>
      </p:sp>
      <p:sp>
        <p:nvSpPr>
          <p:cNvPr id="12" name="Rounded Rectangle 11"/>
          <p:cNvSpPr/>
          <p:nvPr/>
        </p:nvSpPr>
        <p:spPr>
          <a:xfrm>
            <a:off x="7680960" y="1463040"/>
            <a:ext cx="3749039" cy="137160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0" y="1572768"/>
            <a:ext cx="3749039" cy="502920"/>
          </a:xfrm>
          <a:prstGeom prst="rect">
            <a:avLst/>
          </a:prstGeom>
          <a:noFill/>
        </p:spPr>
        <p:txBody>
          <a:bodyPr wrap="square" anchor="t">
            <a:spAutoFit/>
          </a:bodyPr>
          <a:lstStyle/>
          <a:p>
            <a:pPr algn="ctr">
              <a:lnSpc>
                <a:spcPct val="100000"/>
              </a:lnSpc>
            </a:pPr>
            <a:r>
              <a:rPr sz="2600" b="1">
                <a:solidFill>
                  <a:srgbClr val="C98A2C"/>
                </a:solidFill>
                <a:latin typeface="Calibri"/>
              </a:rPr>
              <a:t>7 / 9  (77.8%)</a:t>
            </a:r>
          </a:p>
        </p:txBody>
      </p:sp>
      <p:sp>
        <p:nvSpPr>
          <p:cNvPr id="14" name="TextBox 13"/>
          <p:cNvSpPr txBox="1"/>
          <p:nvPr/>
        </p:nvSpPr>
        <p:spPr>
          <a:xfrm>
            <a:off x="7772400" y="2377440"/>
            <a:ext cx="3566159" cy="411480"/>
          </a:xfrm>
          <a:prstGeom prst="rect">
            <a:avLst/>
          </a:prstGeom>
          <a:noFill/>
        </p:spPr>
        <p:txBody>
          <a:bodyPr wrap="square" anchor="t">
            <a:spAutoFit/>
          </a:bodyPr>
          <a:lstStyle/>
          <a:p>
            <a:pPr algn="ctr">
              <a:lnSpc>
                <a:spcPct val="100000"/>
              </a:lnSpc>
            </a:pPr>
            <a:r>
              <a:rPr sz="1150" b="0">
                <a:solidFill>
                  <a:srgbClr val="5A6370"/>
                </a:solidFill>
                <a:latin typeface="Calibri"/>
              </a:rPr>
              <a:t>Partial-or-better</a:t>
            </a:r>
          </a:p>
        </p:txBody>
      </p:sp>
      <p:sp>
        <p:nvSpPr>
          <p:cNvPr id="15" name="TextBox 14"/>
          <p:cNvSpPr txBox="1"/>
          <p:nvPr/>
        </p:nvSpPr>
        <p:spPr>
          <a:xfrm>
            <a:off x="640080" y="3063240"/>
            <a:ext cx="10789920" cy="365760"/>
          </a:xfrm>
          <a:prstGeom prst="rect">
            <a:avLst/>
          </a:prstGeom>
          <a:noFill/>
        </p:spPr>
        <p:txBody>
          <a:bodyPr wrap="square" anchor="t">
            <a:spAutoFit/>
          </a:bodyPr>
          <a:lstStyle/>
          <a:p>
            <a:pPr algn="l">
              <a:lnSpc>
                <a:spcPct val="100000"/>
              </a:lnSpc>
            </a:pPr>
            <a:r>
              <a:rPr sz="1200" b="0">
                <a:solidFill>
                  <a:srgbClr val="5A6370"/>
                </a:solidFill>
                <a:latin typeface="Calibri"/>
              </a:rPr>
              <a:t>(Measured against a synthetic ground-truth benchmark of 9 planted relationships, used ONLY for after-the-fact validation.)</a:t>
            </a:r>
          </a:p>
        </p:txBody>
      </p:sp>
      <p:sp>
        <p:nvSpPr>
          <p:cNvPr id="16" name="Rounded Rectangle 15"/>
          <p:cNvSpPr/>
          <p:nvPr/>
        </p:nvSpPr>
        <p:spPr>
          <a:xfrm>
            <a:off x="640080" y="3611880"/>
            <a:ext cx="10789920" cy="160020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749039"/>
            <a:ext cx="10332720" cy="320040"/>
          </a:xfrm>
          <a:prstGeom prst="rect">
            <a:avLst/>
          </a:prstGeom>
          <a:noFill/>
        </p:spPr>
        <p:txBody>
          <a:bodyPr wrap="square" anchor="t">
            <a:spAutoFit/>
          </a:bodyPr>
          <a:lstStyle/>
          <a:p>
            <a:pPr algn="l">
              <a:lnSpc>
                <a:spcPct val="100000"/>
              </a:lnSpc>
            </a:pPr>
            <a:r>
              <a:rPr sz="1500" b="1">
                <a:solidFill>
                  <a:srgbClr val="1B2A4A"/>
                </a:solidFill>
                <a:latin typeface="Calibri"/>
              </a:rPr>
              <a:t>Remaining problem: interaction candidate generation / coverage</a:t>
            </a:r>
          </a:p>
        </p:txBody>
      </p:sp>
      <p:sp>
        <p:nvSpPr>
          <p:cNvPr id="18" name="TextBox 17"/>
          <p:cNvSpPr txBox="1"/>
          <p:nvPr/>
        </p:nvSpPr>
        <p:spPr>
          <a:xfrm>
            <a:off x="868680" y="4114800"/>
            <a:ext cx="10332720" cy="1005840"/>
          </a:xfrm>
          <a:prstGeom prst="rect">
            <a:avLst/>
          </a:prstGeom>
          <a:noFill/>
        </p:spPr>
        <p:txBody>
          <a:bodyPr wrap="square">
            <a:spAutoFit/>
          </a:bodyPr>
          <a:lstStyle/>
          <a:p>
            <a:pPr marL="0">
              <a:spcAft>
                <a:spcPts val="600"/>
              </a:spcAft>
            </a:pPr>
            <a:r>
              <a:rPr sz="1350" b="0">
                <a:solidFill>
                  <a:srgbClr val="222833"/>
                </a:solidFill>
                <a:latin typeface="Calibri"/>
              </a:rPr>
              <a:t>▪ Every relationship this system actually got a chance to test has produced at least a partial, reproducible finding -- zero outright "missed" among testable cases.</a:t>
            </a:r>
          </a:p>
          <a:p>
            <a:pPr marL="0">
              <a:spcAft>
                <a:spcPts val="600"/>
              </a:spcAft>
            </a:pPr>
            <a:r>
              <a:rPr sz="1350" b="0">
                <a:solidFill>
                  <a:srgbClr val="222833"/>
                </a:solidFill>
                <a:latin typeface="Calibri"/>
              </a:rPr>
              <a:t>▪ The 2 remaining untested relationships have ALL of their component pieces independently confirmed real; the gap is that no candidate-generation pass (across 5 successive versions) has yet combined them into the exact tested pair/triple.</a:t>
            </a:r>
          </a:p>
        </p:txBody>
      </p:sp>
      <p:sp>
        <p:nvSpPr>
          <p:cNvPr id="19" name="TextBox 18"/>
          <p:cNvSpPr txBox="1"/>
          <p:nvPr/>
        </p:nvSpPr>
        <p:spPr>
          <a:xfrm>
            <a:off x="502920" y="6537960"/>
            <a:ext cx="9144000" cy="274320"/>
          </a:xfrm>
          <a:prstGeom prst="rect">
            <a:avLst/>
          </a:prstGeom>
          <a:noFill/>
        </p:spPr>
        <p:txBody>
          <a:bodyPr wrap="square" anchor="t">
            <a:spAutoFit/>
          </a:bodyPr>
          <a:lstStyle/>
          <a:p>
            <a:pPr algn="l">
              <a:lnSpc>
                <a:spcPct val="100000"/>
              </a:lnSpc>
            </a:pPr>
            <a:r>
              <a:rPr sz="900" b="0">
                <a:solidFill>
                  <a:srgbClr val="5A6370"/>
                </a:solidFill>
                <a:latin typeface="Calibri"/>
              </a:rPr>
              <a:t>YieldMindX -- AI-Based Correlation Engine for EOL Yield Optimization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601200" cy="320040"/>
          </a:xfrm>
          <a:prstGeom prst="rect">
            <a:avLst/>
          </a:prstGeom>
          <a:noFill/>
        </p:spPr>
        <p:txBody>
          <a:bodyPr wrap="square" anchor="t">
            <a:spAutoFit/>
          </a:bodyPr>
          <a:lstStyle/>
          <a:p>
            <a:pPr algn="l">
              <a:lnSpc>
                <a:spcPct val="100000"/>
              </a:lnSpc>
            </a:pPr>
            <a:r>
              <a:rPr sz="1300" b="1">
                <a:solidFill>
                  <a:srgbClr val="C98A2C"/>
                </a:solidFill>
                <a:latin typeface="Calibri"/>
              </a:rPr>
              <a:t>STAGE 2 -- NEWEST COMPONENT</a:t>
            </a:r>
          </a:p>
        </p:txBody>
      </p:sp>
      <p:sp>
        <p:nvSpPr>
          <p:cNvPr id="4" name="TextBox 3"/>
          <p:cNvSpPr txBox="1"/>
          <p:nvPr/>
        </p:nvSpPr>
        <p:spPr>
          <a:xfrm>
            <a:off x="502920" y="384048"/>
            <a:ext cx="10515600" cy="594360"/>
          </a:xfrm>
          <a:prstGeom prst="rect">
            <a:avLst/>
          </a:prstGeom>
          <a:noFill/>
        </p:spPr>
        <p:txBody>
          <a:bodyPr wrap="square" anchor="t">
            <a:spAutoFit/>
          </a:bodyPr>
          <a:lstStyle/>
          <a:p>
            <a:pPr algn="l">
              <a:lnSpc>
                <a:spcPct val="100000"/>
              </a:lnSpc>
            </a:pPr>
            <a:r>
              <a:rPr sz="2700" b="1">
                <a:solidFill>
                  <a:srgbClr val="FFFFFF"/>
                </a:solidFill>
                <a:latin typeface="Calibri"/>
              </a:rPr>
              <a:t>Relationship Validation Engine</a:t>
            </a:r>
          </a:p>
        </p:txBody>
      </p:sp>
      <p:sp>
        <p:nvSpPr>
          <p:cNvPr id="5" name="TextBox 4"/>
          <p:cNvSpPr txBox="1"/>
          <p:nvPr/>
        </p:nvSpPr>
        <p:spPr>
          <a:xfrm>
            <a:off x="11292840" y="384048"/>
            <a:ext cx="731520" cy="365760"/>
          </a:xfrm>
          <a:prstGeom prst="rect">
            <a:avLst/>
          </a:prstGeom>
          <a:noFill/>
        </p:spPr>
        <p:txBody>
          <a:bodyPr wrap="square" anchor="t">
            <a:spAutoFit/>
          </a:bodyPr>
          <a:lstStyle/>
          <a:p>
            <a:pPr algn="r">
              <a:lnSpc>
                <a:spcPct val="100000"/>
              </a:lnSpc>
            </a:pPr>
            <a:r>
              <a:rPr sz="1300" b="0">
                <a:solidFill>
                  <a:srgbClr val="B8C2D0"/>
                </a:solidFill>
                <a:latin typeface="Calibri"/>
              </a:rPr>
              <a:t>14/15</a:t>
            </a:r>
          </a:p>
        </p:txBody>
      </p:sp>
      <p:sp>
        <p:nvSpPr>
          <p:cNvPr id="6" name="TextBox 5"/>
          <p:cNvSpPr txBox="1"/>
          <p:nvPr/>
        </p:nvSpPr>
        <p:spPr>
          <a:xfrm>
            <a:off x="640080" y="1280160"/>
            <a:ext cx="10789920" cy="548640"/>
          </a:xfrm>
          <a:prstGeom prst="rect">
            <a:avLst/>
          </a:prstGeom>
          <a:noFill/>
        </p:spPr>
        <p:txBody>
          <a:bodyPr wrap="square" anchor="t">
            <a:spAutoFit/>
          </a:bodyPr>
          <a:lstStyle/>
          <a:p>
            <a:pPr algn="l">
              <a:lnSpc>
                <a:spcPct val="100000"/>
              </a:lnSpc>
            </a:pPr>
            <a:r>
              <a:rPr sz="1450" b="0">
                <a:solidFill>
                  <a:srgbClr val="222833"/>
                </a:solidFill>
                <a:latin typeface="Calibri"/>
              </a:rPr>
              <a:t>A new, complementary component whose job is to directly and STATISTICALLY validate relationships -- not just discover candidates. Independently audited and improved since first built.</a:t>
            </a:r>
          </a:p>
        </p:txBody>
      </p:sp>
      <p:sp>
        <p:nvSpPr>
          <p:cNvPr id="7" name="Rounded Rectangle 6"/>
          <p:cNvSpPr/>
          <p:nvPr/>
        </p:nvSpPr>
        <p:spPr>
          <a:xfrm>
            <a:off x="502920" y="1874519"/>
            <a:ext cx="2057400" cy="960120"/>
          </a:xfrm>
          <a:prstGeom prst="roundRect">
            <a:avLst/>
          </a:prstGeom>
          <a:solidFill>
            <a:srgbClr val="2C8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00" b="1">
                <a:solidFill>
                  <a:srgbClr val="FFFFFF"/>
                </a:solidFill>
              </a:rPr>
              <a:t>Single-feature</a:t>
            </a:r>
            <a:br/>
            <a:r>
              <a:rPr sz="1200" b="1">
                <a:solidFill>
                  <a:srgbClr val="FFFFFF"/>
                </a:solidFill>
              </a:rPr>
              <a:t>validation</a:t>
            </a:r>
            <a:br/>
            <a:r>
              <a:rPr sz="1200" b="1">
                <a:solidFill>
                  <a:srgbClr val="FFFFFF"/>
                </a:solidFill>
              </a:rPr>
              <a:t>(baseline vs</a:t>
            </a:r>
            <a:br/>
            <a:r>
              <a:rPr sz="1200" b="1">
                <a:solidFill>
                  <a:srgbClr val="FFFFFF"/>
                </a:solidFill>
              </a:rPr>
              <a:t>nonlinear)</a:t>
            </a:r>
          </a:p>
        </p:txBody>
      </p:sp>
      <p:cxnSp>
        <p:nvCxnSpPr>
          <p:cNvPr id="8" name="Connector 7"/>
          <p:cNvCxnSpPr/>
          <p:nvPr/>
        </p:nvCxnSpPr>
        <p:spPr>
          <a:xfrm>
            <a:off x="2560320" y="2354579"/>
            <a:ext cx="164592" cy="0"/>
          </a:xfrm>
          <a:prstGeom prst="line">
            <a:avLst/>
          </a:prstGeom>
          <a:ln w="28575">
            <a:solidFill>
              <a:srgbClr val="5A63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724912" y="1874519"/>
            <a:ext cx="2057400" cy="960120"/>
          </a:xfrm>
          <a:prstGeom prst="roundRect">
            <a:avLst/>
          </a:prstGeom>
          <a:solidFill>
            <a:srgbClr val="2C8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00" b="1">
                <a:solidFill>
                  <a:srgbClr val="FFFFFF"/>
                </a:solidFill>
              </a:rPr>
              <a:t>2-way:</a:t>
            </a:r>
            <a:br/>
            <a:r>
              <a:rPr sz="1200" b="1">
                <a:solidFill>
                  <a:srgbClr val="FFFFFF"/>
                </a:solidFill>
              </a:rPr>
              <a:t>ADD vs JOINT</a:t>
            </a:r>
          </a:p>
        </p:txBody>
      </p:sp>
      <p:cxnSp>
        <p:nvCxnSpPr>
          <p:cNvPr id="10" name="Connector 9"/>
          <p:cNvCxnSpPr/>
          <p:nvPr/>
        </p:nvCxnSpPr>
        <p:spPr>
          <a:xfrm>
            <a:off x="4782312" y="2354579"/>
            <a:ext cx="164592" cy="0"/>
          </a:xfrm>
          <a:prstGeom prst="line">
            <a:avLst/>
          </a:prstGeom>
          <a:ln w="28575">
            <a:solidFill>
              <a:srgbClr val="5A63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946904" y="1874519"/>
            <a:ext cx="2057400" cy="960120"/>
          </a:xfrm>
          <a:prstGeom prst="roundRect">
            <a:avLst/>
          </a:prstGeom>
          <a:solidFill>
            <a:srgbClr val="2C8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00" b="1">
                <a:solidFill>
                  <a:srgbClr val="FFFFFF"/>
                </a:solidFill>
              </a:rPr>
              <a:t>3-way:</a:t>
            </a:r>
            <a:br/>
            <a:r>
              <a:rPr sz="1200" b="1">
                <a:solidFill>
                  <a:srgbClr val="FFFFFF"/>
                </a:solidFill>
              </a:rPr>
              <a:t>lower-order</a:t>
            </a:r>
            <a:br/>
            <a:r>
              <a:rPr sz="1200" b="1">
                <a:solidFill>
                  <a:srgbClr val="FFFFFF"/>
                </a:solidFill>
              </a:rPr>
              <a:t>vs full</a:t>
            </a:r>
          </a:p>
        </p:txBody>
      </p:sp>
      <p:cxnSp>
        <p:nvCxnSpPr>
          <p:cNvPr id="12" name="Connector 11"/>
          <p:cNvCxnSpPr/>
          <p:nvPr/>
        </p:nvCxnSpPr>
        <p:spPr>
          <a:xfrm>
            <a:off x="7004304" y="2354579"/>
            <a:ext cx="164592" cy="0"/>
          </a:xfrm>
          <a:prstGeom prst="line">
            <a:avLst/>
          </a:prstGeom>
          <a:ln w="28575">
            <a:solidFill>
              <a:srgbClr val="5A63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168896" y="1874519"/>
            <a:ext cx="2057400" cy="960120"/>
          </a:xfrm>
          <a:prstGeom prst="roundRect">
            <a:avLst/>
          </a:prstGeom>
          <a:solidFill>
            <a:srgbClr val="2C8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00" b="1">
                <a:solidFill>
                  <a:srgbClr val="FFFFFF"/>
                </a:solidFill>
              </a:rPr>
              <a:t>Permutation</a:t>
            </a:r>
            <a:br/>
            <a:r>
              <a:rPr sz="1200" b="1">
                <a:solidFill>
                  <a:srgbClr val="FFFFFF"/>
                </a:solidFill>
              </a:rPr>
              <a:t>empirical</a:t>
            </a:r>
            <a:br/>
            <a:r>
              <a:rPr sz="1200" b="1">
                <a:solidFill>
                  <a:srgbClr val="FFFFFF"/>
                </a:solidFill>
              </a:rPr>
              <a:t>p-values</a:t>
            </a:r>
          </a:p>
        </p:txBody>
      </p:sp>
      <p:cxnSp>
        <p:nvCxnSpPr>
          <p:cNvPr id="14" name="Connector 13"/>
          <p:cNvCxnSpPr/>
          <p:nvPr/>
        </p:nvCxnSpPr>
        <p:spPr>
          <a:xfrm>
            <a:off x="9226296" y="2354579"/>
            <a:ext cx="164592" cy="0"/>
          </a:xfrm>
          <a:prstGeom prst="line">
            <a:avLst/>
          </a:prstGeom>
          <a:ln w="28575">
            <a:solidFill>
              <a:srgbClr val="5A63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390888" y="1874519"/>
            <a:ext cx="2057400" cy="960120"/>
          </a:xfrm>
          <a:prstGeom prst="roundRect">
            <a:avLst/>
          </a:prstGeom>
          <a:solidFill>
            <a:srgbClr val="2C8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00" b="1">
                <a:solidFill>
                  <a:srgbClr val="FFFFFF"/>
                </a:solidFill>
              </a:rPr>
              <a:t>Benjamini-</a:t>
            </a:r>
            <a:br/>
            <a:r>
              <a:rPr sz="1200" b="1">
                <a:solidFill>
                  <a:srgbClr val="FFFFFF"/>
                </a:solidFill>
              </a:rPr>
              <a:t>Hochberg FDR</a:t>
            </a:r>
          </a:p>
        </p:txBody>
      </p:sp>
      <p:graphicFrame>
        <p:nvGraphicFramePr>
          <p:cNvPr id="16" name="Table 15"/>
          <p:cNvGraphicFramePr>
            <a:graphicFrameLocks noGrp="1"/>
          </p:cNvGraphicFramePr>
          <p:nvPr/>
        </p:nvGraphicFramePr>
        <p:xfrm>
          <a:off x="640080" y="3108960"/>
          <a:ext cx="6675120" cy="1600200"/>
        </p:xfrm>
        <a:graphic>
          <a:graphicData uri="http://schemas.openxmlformats.org/drawingml/2006/table">
            <a:tbl>
              <a:tblPr bandRow="1">
                <a:tableStyleId>{5C22544A-7EE6-4342-B048-85BDC9FD1C3A}</a:tableStyleId>
              </a:tblPr>
              <a:tblGrid>
                <a:gridCol w="2377440"/>
                <a:gridCol w="2194560"/>
                <a:gridCol w="2103120"/>
              </a:tblGrid>
              <a:tr h="400050">
                <a:tc>
                  <a:txBody>
                    <a:bodyPr/>
                    <a:lstStyle/>
                    <a:p>
                      <a:pPr algn="ctr"/>
                      <a:r>
                        <a:rPr b="1" sz="1350">
                          <a:solidFill>
                            <a:srgbClr val="FFFFFF"/>
                          </a:solidFill>
                        </a:rPr>
                        <a:t>Family</a:t>
                      </a:r>
                    </a:p>
                  </a:txBody>
                  <a:tcPr anchor="ctr">
                    <a:solidFill>
                      <a:srgbClr val="1B2A4A"/>
                    </a:solidFill>
                  </a:tcPr>
                </a:tc>
                <a:tc>
                  <a:txBody>
                    <a:bodyPr/>
                    <a:lstStyle/>
                    <a:p>
                      <a:pPr algn="ctr"/>
                      <a:r>
                        <a:rPr b="1" sz="1350">
                          <a:solidFill>
                            <a:srgbClr val="FFFFFF"/>
                          </a:solidFill>
                        </a:rPr>
                        <a:t>Hypotheses tested</a:t>
                      </a:r>
                    </a:p>
                  </a:txBody>
                  <a:tcPr anchor="ctr">
                    <a:solidFill>
                      <a:srgbClr val="1B2A4A"/>
                    </a:solidFill>
                  </a:tcPr>
                </a:tc>
                <a:tc>
                  <a:txBody>
                    <a:bodyPr/>
                    <a:lstStyle/>
                    <a:p>
                      <a:pPr algn="ctr"/>
                      <a:r>
                        <a:rPr b="1" sz="1350">
                          <a:solidFill>
                            <a:srgbClr val="FFFFFF"/>
                          </a:solidFill>
                        </a:rPr>
                        <a:t>Survive FDR (q≤0.05)</a:t>
                      </a:r>
                    </a:p>
                  </a:txBody>
                  <a:tcPr anchor="ctr">
                    <a:solidFill>
                      <a:srgbClr val="1B2A4A"/>
                    </a:solidFill>
                  </a:tcPr>
                </a:tc>
              </a:tr>
              <a:tr h="400050">
                <a:tc>
                  <a:txBody>
                    <a:bodyPr/>
                    <a:lstStyle/>
                    <a:p>
                      <a:pPr algn="l"/>
                      <a:r>
                        <a:rPr sz="1300">
                          <a:solidFill>
                            <a:srgbClr val="222833"/>
                          </a:solidFill>
                        </a:rPr>
                        <a:t>Single-parameter</a:t>
                      </a:r>
                    </a:p>
                  </a:txBody>
                  <a:tcPr anchor="ctr">
                    <a:solidFill>
                      <a:srgbClr val="FFFFFF"/>
                    </a:solidFill>
                  </a:tcPr>
                </a:tc>
                <a:tc>
                  <a:txBody>
                    <a:bodyPr/>
                    <a:lstStyle/>
                    <a:p>
                      <a:pPr algn="ctr"/>
                      <a:r>
                        <a:rPr sz="1300">
                          <a:solidFill>
                            <a:srgbClr val="222833"/>
                          </a:solidFill>
                        </a:rPr>
                        <a:t>1,405</a:t>
                      </a:r>
                    </a:p>
                  </a:txBody>
                  <a:tcPr anchor="ctr">
                    <a:solidFill>
                      <a:srgbClr val="FFFFFF"/>
                    </a:solidFill>
                  </a:tcPr>
                </a:tc>
                <a:tc>
                  <a:txBody>
                    <a:bodyPr/>
                    <a:lstStyle/>
                    <a:p>
                      <a:pPr algn="ctr"/>
                      <a:r>
                        <a:rPr sz="1300">
                          <a:solidFill>
                            <a:srgbClr val="222833"/>
                          </a:solidFill>
                        </a:rPr>
                        <a:t>1,048 (74.6%)</a:t>
                      </a:r>
                    </a:p>
                  </a:txBody>
                  <a:tcPr anchor="ctr">
                    <a:solidFill>
                      <a:srgbClr val="FFFFFF"/>
                    </a:solidFill>
                  </a:tcPr>
                </a:tc>
              </a:tr>
              <a:tr h="400050">
                <a:tc>
                  <a:txBody>
                    <a:bodyPr/>
                    <a:lstStyle/>
                    <a:p>
                      <a:pPr algn="l"/>
                      <a:r>
                        <a:rPr sz="1300">
                          <a:solidFill>
                            <a:srgbClr val="222833"/>
                          </a:solidFill>
                        </a:rPr>
                        <a:t>2-way interactions</a:t>
                      </a:r>
                    </a:p>
                  </a:txBody>
                  <a:tcPr anchor="ctr">
                    <a:solidFill>
                      <a:srgbClr val="F4F6F8"/>
                    </a:solidFill>
                  </a:tcPr>
                </a:tc>
                <a:tc>
                  <a:txBody>
                    <a:bodyPr/>
                    <a:lstStyle/>
                    <a:p>
                      <a:pPr algn="ctr"/>
                      <a:r>
                        <a:rPr sz="1300">
                          <a:solidFill>
                            <a:srgbClr val="222833"/>
                          </a:solidFill>
                        </a:rPr>
                        <a:t>11,920</a:t>
                      </a:r>
                    </a:p>
                  </a:txBody>
                  <a:tcPr anchor="ctr">
                    <a:solidFill>
                      <a:srgbClr val="F4F6F8"/>
                    </a:solidFill>
                  </a:tcPr>
                </a:tc>
                <a:tc>
                  <a:txBody>
                    <a:bodyPr/>
                    <a:lstStyle/>
                    <a:p>
                      <a:pPr algn="ctr"/>
                      <a:r>
                        <a:rPr sz="1300">
                          <a:solidFill>
                            <a:srgbClr val="222833"/>
                          </a:solidFill>
                        </a:rPr>
                        <a:t>11,622 (97.5%)</a:t>
                      </a:r>
                    </a:p>
                  </a:txBody>
                  <a:tcPr anchor="ctr">
                    <a:solidFill>
                      <a:srgbClr val="F4F6F8"/>
                    </a:solidFill>
                  </a:tcPr>
                </a:tc>
              </a:tr>
              <a:tr h="400050">
                <a:tc>
                  <a:txBody>
                    <a:bodyPr/>
                    <a:lstStyle/>
                    <a:p>
                      <a:pPr algn="l"/>
                      <a:r>
                        <a:rPr sz="1300">
                          <a:solidFill>
                            <a:srgbClr val="222833"/>
                          </a:solidFill>
                        </a:rPr>
                        <a:t>3-way interactions</a:t>
                      </a:r>
                    </a:p>
                  </a:txBody>
                  <a:tcPr anchor="ctr">
                    <a:solidFill>
                      <a:srgbClr val="FFFFFF"/>
                    </a:solidFill>
                  </a:tcPr>
                </a:tc>
                <a:tc>
                  <a:txBody>
                    <a:bodyPr/>
                    <a:lstStyle/>
                    <a:p>
                      <a:pPr algn="ctr"/>
                      <a:r>
                        <a:rPr sz="1300">
                          <a:solidFill>
                            <a:srgbClr val="222833"/>
                          </a:solidFill>
                        </a:rPr>
                        <a:t>11,002</a:t>
                      </a:r>
                    </a:p>
                  </a:txBody>
                  <a:tcPr anchor="ctr">
                    <a:solidFill>
                      <a:srgbClr val="FFFFFF"/>
                    </a:solidFill>
                  </a:tcPr>
                </a:tc>
                <a:tc>
                  <a:txBody>
                    <a:bodyPr/>
                    <a:lstStyle/>
                    <a:p>
                      <a:pPr algn="ctr"/>
                      <a:r>
                        <a:rPr sz="1300">
                          <a:solidFill>
                            <a:srgbClr val="222833"/>
                          </a:solidFill>
                        </a:rPr>
                        <a:t>9,635 (87.6%)</a:t>
                      </a:r>
                    </a:p>
                  </a:txBody>
                  <a:tcPr anchor="ctr">
                    <a:solidFill>
                      <a:srgbClr val="FFFFFF"/>
                    </a:solidFill>
                  </a:tcPr>
                </a:tc>
              </a:tr>
            </a:tbl>
          </a:graphicData>
        </a:graphic>
      </p:graphicFrame>
      <p:sp>
        <p:nvSpPr>
          <p:cNvPr id="17" name="TextBox 16"/>
          <p:cNvSpPr txBox="1"/>
          <p:nvPr/>
        </p:nvSpPr>
        <p:spPr>
          <a:xfrm>
            <a:off x="7498079" y="3108960"/>
            <a:ext cx="3931920" cy="2377440"/>
          </a:xfrm>
          <a:prstGeom prst="rect">
            <a:avLst/>
          </a:prstGeom>
          <a:noFill/>
        </p:spPr>
        <p:txBody>
          <a:bodyPr wrap="square">
            <a:spAutoFit/>
          </a:bodyPr>
          <a:lstStyle/>
          <a:p>
            <a:pPr marL="0">
              <a:spcAft>
                <a:spcPts val="700"/>
              </a:spcAft>
            </a:pPr>
            <a:r>
              <a:rPr sz="1250" b="0">
                <a:solidFill>
                  <a:srgbClr val="222833"/>
                </a:solidFill>
                <a:latin typeface="Calibri"/>
              </a:rPr>
              <a:t>▪ Every LotName-grouped fold used for stability, not just accuracy.</a:t>
            </a:r>
          </a:p>
          <a:p>
            <a:pPr marL="0">
              <a:spcAft>
                <a:spcPts val="700"/>
              </a:spcAft>
            </a:pPr>
            <a:r>
              <a:rPr sz="1250" b="0">
                <a:solidFill>
                  <a:srgbClr val="222833"/>
                </a:solidFill>
                <a:latin typeface="Calibri"/>
              </a:rPr>
              <a:t>▪ Negative control (real vs. shuffled-target rate) PASSES cleanly for all three families.</a:t>
            </a:r>
          </a:p>
          <a:p>
            <a:pPr marL="0">
              <a:spcAft>
                <a:spcPts val="700"/>
              </a:spcAft>
            </a:pPr>
            <a:r>
              <a:rPr sz="1250" b="0">
                <a:solidFill>
                  <a:srgbClr val="222833"/>
                </a:solidFill>
                <a:latin typeface="Calibri"/>
              </a:rPr>
              <a:t>▪ Independently audited: fixed a permutation-shuffle methodology gap and a dormant threshold bug -- conclusions held, calibration still PASSES.</a:t>
            </a:r>
          </a:p>
        </p:txBody>
      </p:sp>
      <p:sp>
        <p:nvSpPr>
          <p:cNvPr id="18" name="Rounded Rectangle 17"/>
          <p:cNvSpPr/>
          <p:nvPr/>
        </p:nvSpPr>
        <p:spPr>
          <a:xfrm>
            <a:off x="640080" y="4892040"/>
            <a:ext cx="10789920" cy="123444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5001768"/>
            <a:ext cx="10332720" cy="292608"/>
          </a:xfrm>
          <a:prstGeom prst="rect">
            <a:avLst/>
          </a:prstGeom>
          <a:noFill/>
        </p:spPr>
        <p:txBody>
          <a:bodyPr wrap="square" anchor="t">
            <a:spAutoFit/>
          </a:bodyPr>
          <a:lstStyle/>
          <a:p>
            <a:pPr algn="l">
              <a:lnSpc>
                <a:spcPct val="100000"/>
              </a:lnSpc>
            </a:pPr>
            <a:r>
              <a:rPr sz="1300" b="1">
                <a:solidFill>
                  <a:srgbClr val="1B2A4A"/>
                </a:solidFill>
                <a:latin typeface="Calibri"/>
              </a:rPr>
              <a:t>Candidate-generation coverage improvements (2 rounds, ground-truth-free)</a:t>
            </a:r>
          </a:p>
        </p:txBody>
      </p:sp>
      <p:sp>
        <p:nvSpPr>
          <p:cNvPr id="20" name="TextBox 19"/>
          <p:cNvSpPr txBox="1"/>
          <p:nvPr/>
        </p:nvSpPr>
        <p:spPr>
          <a:xfrm>
            <a:off x="868680" y="5303520"/>
            <a:ext cx="10332720" cy="777240"/>
          </a:xfrm>
          <a:prstGeom prst="rect">
            <a:avLst/>
          </a:prstGeom>
          <a:noFill/>
        </p:spPr>
        <p:txBody>
          <a:bodyPr wrap="square">
            <a:spAutoFit/>
          </a:bodyPr>
          <a:lstStyle/>
          <a:p>
            <a:pPr marL="0">
              <a:spcAft>
                <a:spcPts val="400"/>
              </a:spcAft>
            </a:pPr>
            <a:r>
              <a:rPr sz="1200" b="0">
                <a:solidFill>
                  <a:srgbClr val="222833"/>
                </a:solidFill>
                <a:latin typeface="Calibri"/>
              </a:rPr>
              <a:t>▪ Per-feature guaranteed candidate slots + evidence-ranked (not random) triple chaining: pair feature-coverage 80%-&gt;91%, triple feature-coverage 43%-&gt;72%.</a:t>
            </a:r>
          </a:p>
          <a:p>
            <a:pPr marL="0">
              <a:spcAft>
                <a:spcPts val="400"/>
              </a:spcAft>
            </a:pPr>
            <a:r>
              <a:rPr sz="1200" b="0">
                <a:solidFill>
                  <a:srgbClr val="222833"/>
                </a:solidFill>
                <a:latin typeface="Calibri"/>
              </a:rPr>
              <a:t>▪ Shrunk (de-noised) interaction score, reusing the same statistical shrinkage principle as the validator itself: measurably better agreement with confirmed results; calibration still PASSES.</a:t>
            </a:r>
          </a:p>
        </p:txBody>
      </p:sp>
      <p:sp>
        <p:nvSpPr>
          <p:cNvPr id="21" name="TextBox 20"/>
          <p:cNvSpPr txBox="1"/>
          <p:nvPr/>
        </p:nvSpPr>
        <p:spPr>
          <a:xfrm>
            <a:off x="502920" y="6537960"/>
            <a:ext cx="9144000" cy="274320"/>
          </a:xfrm>
          <a:prstGeom prst="rect">
            <a:avLst/>
          </a:prstGeom>
          <a:noFill/>
        </p:spPr>
        <p:txBody>
          <a:bodyPr wrap="square" anchor="t">
            <a:spAutoFit/>
          </a:bodyPr>
          <a:lstStyle/>
          <a:p>
            <a:pPr algn="l">
              <a:lnSpc>
                <a:spcPct val="100000"/>
              </a:lnSpc>
            </a:pPr>
            <a:r>
              <a:rPr sz="900" b="0">
                <a:solidFill>
                  <a:srgbClr val="5A6370"/>
                </a:solidFill>
                <a:latin typeface="Calibri"/>
              </a:rPr>
              <a:t>YieldMindX -- AI-Based Correlation Engine for EOL Yield Optimization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601200" cy="320040"/>
          </a:xfrm>
          <a:prstGeom prst="rect">
            <a:avLst/>
          </a:prstGeom>
          <a:noFill/>
        </p:spPr>
        <p:txBody>
          <a:bodyPr wrap="square" anchor="t">
            <a:spAutoFit/>
          </a:bodyPr>
          <a:lstStyle/>
          <a:p>
            <a:pPr algn="l">
              <a:lnSpc>
                <a:spcPct val="100000"/>
              </a:lnSpc>
            </a:pPr>
            <a:r>
              <a:rPr sz="1300" b="1">
                <a:solidFill>
                  <a:srgbClr val="C98A2C"/>
                </a:solidFill>
                <a:latin typeface="Calibri"/>
              </a:rPr>
              <a:t>WRAP-UP</a:t>
            </a:r>
          </a:p>
        </p:txBody>
      </p:sp>
      <p:sp>
        <p:nvSpPr>
          <p:cNvPr id="4" name="TextBox 3"/>
          <p:cNvSpPr txBox="1"/>
          <p:nvPr/>
        </p:nvSpPr>
        <p:spPr>
          <a:xfrm>
            <a:off x="502920" y="384048"/>
            <a:ext cx="10515600" cy="594360"/>
          </a:xfrm>
          <a:prstGeom prst="rect">
            <a:avLst/>
          </a:prstGeom>
          <a:noFill/>
        </p:spPr>
        <p:txBody>
          <a:bodyPr wrap="square" anchor="t">
            <a:spAutoFit/>
          </a:bodyPr>
          <a:lstStyle/>
          <a:p>
            <a:pPr algn="l">
              <a:lnSpc>
                <a:spcPct val="100000"/>
              </a:lnSpc>
            </a:pPr>
            <a:r>
              <a:rPr sz="2700" b="1">
                <a:solidFill>
                  <a:srgbClr val="FFFFFF"/>
                </a:solidFill>
                <a:latin typeface="Calibri"/>
              </a:rPr>
              <a:t>Current Status and Next Steps</a:t>
            </a:r>
          </a:p>
        </p:txBody>
      </p:sp>
      <p:sp>
        <p:nvSpPr>
          <p:cNvPr id="5" name="TextBox 4"/>
          <p:cNvSpPr txBox="1"/>
          <p:nvPr/>
        </p:nvSpPr>
        <p:spPr>
          <a:xfrm>
            <a:off x="11292840" y="384048"/>
            <a:ext cx="731520" cy="365760"/>
          </a:xfrm>
          <a:prstGeom prst="rect">
            <a:avLst/>
          </a:prstGeom>
          <a:noFill/>
        </p:spPr>
        <p:txBody>
          <a:bodyPr wrap="square" anchor="t">
            <a:spAutoFit/>
          </a:bodyPr>
          <a:lstStyle/>
          <a:p>
            <a:pPr algn="r">
              <a:lnSpc>
                <a:spcPct val="100000"/>
              </a:lnSpc>
            </a:pPr>
            <a:r>
              <a:rPr sz="1300" b="0">
                <a:solidFill>
                  <a:srgbClr val="B8C2D0"/>
                </a:solidFill>
                <a:latin typeface="Calibri"/>
              </a:rPr>
              <a:t>15/15</a:t>
            </a:r>
          </a:p>
        </p:txBody>
      </p:sp>
      <p:sp>
        <p:nvSpPr>
          <p:cNvPr id="6" name="Rounded Rectangle 5"/>
          <p:cNvSpPr/>
          <p:nvPr/>
        </p:nvSpPr>
        <p:spPr>
          <a:xfrm>
            <a:off x="640080" y="1325880"/>
            <a:ext cx="5212080" cy="1005840"/>
          </a:xfrm>
          <a:prstGeom prst="roundRect">
            <a:avLst/>
          </a:prstGeom>
          <a:solidFill>
            <a:srgbClr val="E8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35608"/>
            <a:ext cx="4846320" cy="320040"/>
          </a:xfrm>
          <a:prstGeom prst="rect">
            <a:avLst/>
          </a:prstGeom>
          <a:noFill/>
        </p:spPr>
        <p:txBody>
          <a:bodyPr wrap="square" anchor="t">
            <a:spAutoFit/>
          </a:bodyPr>
          <a:lstStyle/>
          <a:p>
            <a:pPr algn="l">
              <a:lnSpc>
                <a:spcPct val="100000"/>
              </a:lnSpc>
            </a:pPr>
            <a:r>
              <a:rPr sz="1500" b="1">
                <a:solidFill>
                  <a:srgbClr val="3A8C5E"/>
                </a:solidFill>
                <a:latin typeface="Calibri"/>
              </a:rPr>
              <a:t>Stage 1</a:t>
            </a:r>
          </a:p>
        </p:txBody>
      </p:sp>
      <p:sp>
        <p:nvSpPr>
          <p:cNvPr id="8" name="TextBox 7"/>
          <p:cNvSpPr txBox="1"/>
          <p:nvPr/>
        </p:nvSpPr>
        <p:spPr>
          <a:xfrm>
            <a:off x="868680" y="1737360"/>
            <a:ext cx="4846320" cy="502920"/>
          </a:xfrm>
          <a:prstGeom prst="rect">
            <a:avLst/>
          </a:prstGeom>
          <a:noFill/>
        </p:spPr>
        <p:txBody>
          <a:bodyPr wrap="square" anchor="t">
            <a:spAutoFit/>
          </a:bodyPr>
          <a:lstStyle/>
          <a:p>
            <a:pPr algn="l">
              <a:lnSpc>
                <a:spcPct val="100000"/>
              </a:lnSpc>
            </a:pPr>
            <a:r>
              <a:rPr sz="1250" b="0">
                <a:solidFill>
                  <a:srgbClr val="222833"/>
                </a:solidFill>
                <a:latin typeface="Calibri"/>
              </a:rPr>
              <a:t>CLOSED -- production-grade accuracy, validated, no further prediction-model work planned.</a:t>
            </a:r>
          </a:p>
        </p:txBody>
      </p:sp>
      <p:sp>
        <p:nvSpPr>
          <p:cNvPr id="9" name="Rounded Rectangle 8"/>
          <p:cNvSpPr/>
          <p:nvPr/>
        </p:nvSpPr>
        <p:spPr>
          <a:xfrm>
            <a:off x="6080760" y="1325880"/>
            <a:ext cx="5349240" cy="1005840"/>
          </a:xfrm>
          <a:prstGeom prst="roundRect">
            <a:avLst/>
          </a:prstGeom>
          <a:solidFill>
            <a:srgbClr val="FB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435608"/>
            <a:ext cx="4937760" cy="320040"/>
          </a:xfrm>
          <a:prstGeom prst="rect">
            <a:avLst/>
          </a:prstGeom>
          <a:noFill/>
        </p:spPr>
        <p:txBody>
          <a:bodyPr wrap="square" anchor="t">
            <a:spAutoFit/>
          </a:bodyPr>
          <a:lstStyle/>
          <a:p>
            <a:pPr algn="l">
              <a:lnSpc>
                <a:spcPct val="100000"/>
              </a:lnSpc>
            </a:pPr>
            <a:r>
              <a:rPr sz="1500" b="1">
                <a:solidFill>
                  <a:srgbClr val="C98A2C"/>
                </a:solidFill>
                <a:latin typeface="Calibri"/>
              </a:rPr>
              <a:t>Stage 2</a:t>
            </a:r>
          </a:p>
        </p:txBody>
      </p:sp>
      <p:sp>
        <p:nvSpPr>
          <p:cNvPr id="11" name="TextBox 10"/>
          <p:cNvSpPr txBox="1"/>
          <p:nvPr/>
        </p:nvSpPr>
        <p:spPr>
          <a:xfrm>
            <a:off x="6309360" y="1737360"/>
            <a:ext cx="4937760" cy="502920"/>
          </a:xfrm>
          <a:prstGeom prst="rect">
            <a:avLst/>
          </a:prstGeom>
          <a:noFill/>
        </p:spPr>
        <p:txBody>
          <a:bodyPr wrap="square" anchor="t">
            <a:spAutoFit/>
          </a:bodyPr>
          <a:lstStyle/>
          <a:p>
            <a:pPr algn="l">
              <a:lnSpc>
                <a:spcPct val="100000"/>
              </a:lnSpc>
            </a:pPr>
            <a:r>
              <a:rPr sz="1200" b="0">
                <a:solidFill>
                  <a:srgbClr val="222833"/>
                </a:solidFill>
                <a:latin typeface="Calibri"/>
              </a:rPr>
              <a:t>STILL UNDER DEVELOPMENT -- validation engine audited and improved twice; a few specific combinations remain unresolved.</a:t>
            </a:r>
          </a:p>
        </p:txBody>
      </p:sp>
      <p:sp>
        <p:nvSpPr>
          <p:cNvPr id="12" name="TextBox 11"/>
          <p:cNvSpPr txBox="1"/>
          <p:nvPr/>
        </p:nvSpPr>
        <p:spPr>
          <a:xfrm>
            <a:off x="640080" y="2514600"/>
            <a:ext cx="10789920" cy="320040"/>
          </a:xfrm>
          <a:prstGeom prst="rect">
            <a:avLst/>
          </a:prstGeom>
          <a:noFill/>
        </p:spPr>
        <p:txBody>
          <a:bodyPr wrap="square" anchor="t">
            <a:spAutoFit/>
          </a:bodyPr>
          <a:lstStyle/>
          <a:p>
            <a:pPr algn="l">
              <a:lnSpc>
                <a:spcPct val="100000"/>
              </a:lnSpc>
            </a:pPr>
            <a:r>
              <a:rPr sz="1500" b="1">
                <a:solidFill>
                  <a:srgbClr val="1B2A4A"/>
                </a:solidFill>
                <a:latin typeface="Calibri"/>
              </a:rPr>
              <a:t>Progress since the audit was proposed</a:t>
            </a:r>
          </a:p>
        </p:txBody>
      </p:sp>
      <p:sp>
        <p:nvSpPr>
          <p:cNvPr id="13" name="Rounded Rectangle 12"/>
          <p:cNvSpPr/>
          <p:nvPr/>
        </p:nvSpPr>
        <p:spPr>
          <a:xfrm>
            <a:off x="502920" y="2880360"/>
            <a:ext cx="2514600" cy="914400"/>
          </a:xfrm>
          <a:prstGeom prst="roundRect">
            <a:avLst/>
          </a:prstGeom>
          <a:solidFill>
            <a:srgbClr val="2E5B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50" b="1">
                <a:solidFill>
                  <a:srgbClr val="FFFFFF"/>
                </a:solidFill>
              </a:rPr>
              <a:t>Methodology audit</a:t>
            </a:r>
            <a:br/>
            <a:r>
              <a:rPr sz="1150" b="1">
                <a:solidFill>
                  <a:srgbClr val="FFFFFF"/>
                </a:solidFill>
              </a:rPr>
              <a:t>(COMPLETE -- 1 gap</a:t>
            </a:r>
            <a:br/>
            <a:r>
              <a:rPr sz="1150" b="1">
                <a:solidFill>
                  <a:srgbClr val="FFFFFF"/>
                </a:solidFill>
              </a:rPr>
              <a:t>fixed, PASSED)</a:t>
            </a:r>
          </a:p>
        </p:txBody>
      </p:sp>
      <p:cxnSp>
        <p:nvCxnSpPr>
          <p:cNvPr id="14" name="Connector 13"/>
          <p:cNvCxnSpPr/>
          <p:nvPr/>
        </p:nvCxnSpPr>
        <p:spPr>
          <a:xfrm>
            <a:off x="3017520" y="3337560"/>
            <a:ext cx="182880" cy="0"/>
          </a:xfrm>
          <a:prstGeom prst="line">
            <a:avLst/>
          </a:prstGeom>
          <a:ln w="28575">
            <a:solidFill>
              <a:srgbClr val="5A63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200400" y="2880360"/>
            <a:ext cx="2514600" cy="914400"/>
          </a:xfrm>
          <a:prstGeom prst="roundRect">
            <a:avLst/>
          </a:prstGeom>
          <a:solidFill>
            <a:srgbClr val="2E5B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50" b="1">
                <a:solidFill>
                  <a:srgbClr val="FFFFFF"/>
                </a:solidFill>
              </a:rPr>
              <a:t>Candidate-generation</a:t>
            </a:r>
            <a:br/>
            <a:r>
              <a:rPr sz="1150" b="1">
                <a:solidFill>
                  <a:srgbClr val="FFFFFF"/>
                </a:solidFill>
              </a:rPr>
              <a:t>fix (COMPLETE --</a:t>
            </a:r>
            <a:br/>
            <a:r>
              <a:rPr sz="1150" b="1">
                <a:solidFill>
                  <a:srgbClr val="FFFFFF"/>
                </a:solidFill>
              </a:rPr>
              <a:t>coverage improved)</a:t>
            </a:r>
          </a:p>
        </p:txBody>
      </p:sp>
      <p:cxnSp>
        <p:nvCxnSpPr>
          <p:cNvPr id="16" name="Connector 15"/>
          <p:cNvCxnSpPr/>
          <p:nvPr/>
        </p:nvCxnSpPr>
        <p:spPr>
          <a:xfrm>
            <a:off x="5715000" y="3337560"/>
            <a:ext cx="182880" cy="0"/>
          </a:xfrm>
          <a:prstGeom prst="line">
            <a:avLst/>
          </a:prstGeom>
          <a:ln w="28575">
            <a:solidFill>
              <a:srgbClr val="5A63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897880" y="2880360"/>
            <a:ext cx="2514600" cy="914400"/>
          </a:xfrm>
          <a:prstGeom prst="roundRect">
            <a:avLst/>
          </a:prstGeom>
          <a:solidFill>
            <a:srgbClr val="2E5B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50" b="1">
                <a:solidFill>
                  <a:srgbClr val="FFFFFF"/>
                </a:solidFill>
              </a:rPr>
              <a:t>Interaction-score</a:t>
            </a:r>
            <a:br/>
            <a:r>
              <a:rPr sz="1150" b="1">
                <a:solidFill>
                  <a:srgbClr val="FFFFFF"/>
                </a:solidFill>
              </a:rPr>
              <a:t>fix (COMPLETE --</a:t>
            </a:r>
            <a:br/>
            <a:r>
              <a:rPr sz="1150" b="1">
                <a:solidFill>
                  <a:srgbClr val="FFFFFF"/>
                </a:solidFill>
              </a:rPr>
              <a:t>less noisy)</a:t>
            </a:r>
          </a:p>
        </p:txBody>
      </p:sp>
      <p:cxnSp>
        <p:nvCxnSpPr>
          <p:cNvPr id="18" name="Connector 17"/>
          <p:cNvCxnSpPr/>
          <p:nvPr/>
        </p:nvCxnSpPr>
        <p:spPr>
          <a:xfrm>
            <a:off x="8412480" y="3337560"/>
            <a:ext cx="182880" cy="0"/>
          </a:xfrm>
          <a:prstGeom prst="line">
            <a:avLst/>
          </a:prstGeom>
          <a:ln w="28575">
            <a:solidFill>
              <a:srgbClr val="5A63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595360" y="2880360"/>
            <a:ext cx="2514600" cy="914400"/>
          </a:xfrm>
          <a:prstGeom prst="roundRect">
            <a:avLst/>
          </a:prstGeom>
          <a:solidFill>
            <a:srgbClr val="2E5B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50" b="1">
                <a:solidFill>
                  <a:srgbClr val="FFFFFF"/>
                </a:solidFill>
              </a:rPr>
              <a:t>Ground truth</a:t>
            </a:r>
            <a:br/>
            <a:r>
              <a:rPr sz="1150" b="1">
                <a:solidFill>
                  <a:srgbClr val="FFFFFF"/>
                </a:solidFill>
              </a:rPr>
              <a:t>re-checked twice</a:t>
            </a:r>
            <a:br/>
            <a:r>
              <a:rPr sz="1150" b="1">
                <a:solidFill>
                  <a:srgbClr val="FFFFFF"/>
                </a:solidFill>
              </a:rPr>
              <a:t>(unchanged, honest)</a:t>
            </a:r>
          </a:p>
        </p:txBody>
      </p:sp>
      <p:sp>
        <p:nvSpPr>
          <p:cNvPr id="20" name="TextBox 19"/>
          <p:cNvSpPr txBox="1"/>
          <p:nvPr/>
        </p:nvSpPr>
        <p:spPr>
          <a:xfrm>
            <a:off x="640080" y="3977639"/>
            <a:ext cx="10789920" cy="457200"/>
          </a:xfrm>
          <a:prstGeom prst="rect">
            <a:avLst/>
          </a:prstGeom>
          <a:noFill/>
        </p:spPr>
        <p:txBody>
          <a:bodyPr wrap="square" anchor="t">
            <a:spAutoFit/>
          </a:bodyPr>
          <a:lstStyle/>
          <a:p>
            <a:pPr algn="l">
              <a:lnSpc>
                <a:spcPct val="100000"/>
              </a:lnSpc>
            </a:pPr>
            <a:r>
              <a:rPr sz="1250" b="0">
                <a:solidFill>
                  <a:srgbClr val="5A6370"/>
                </a:solidFill>
                <a:latin typeface="Calibri"/>
              </a:rPr>
              <a:t>Remaining gap is now precisely diagnosed: the last few relationships involve real, individually-confirmed features whose COMBINED effect is smaller than hundreds of other real interactions in this data -- a relative-ranking issue, not a broken test.</a:t>
            </a:r>
          </a:p>
        </p:txBody>
      </p:sp>
      <p:sp>
        <p:nvSpPr>
          <p:cNvPr id="21" name="TextBox 20"/>
          <p:cNvSpPr txBox="1"/>
          <p:nvPr/>
        </p:nvSpPr>
        <p:spPr>
          <a:xfrm>
            <a:off x="640080" y="4572000"/>
            <a:ext cx="10789920" cy="320040"/>
          </a:xfrm>
          <a:prstGeom prst="rect">
            <a:avLst/>
          </a:prstGeom>
          <a:noFill/>
        </p:spPr>
        <p:txBody>
          <a:bodyPr wrap="square" anchor="t">
            <a:spAutoFit/>
          </a:bodyPr>
          <a:lstStyle/>
          <a:p>
            <a:pPr algn="l">
              <a:lnSpc>
                <a:spcPct val="100000"/>
              </a:lnSpc>
            </a:pPr>
            <a:r>
              <a:rPr sz="1500" b="1">
                <a:solidFill>
                  <a:srgbClr val="1B2A4A"/>
                </a:solidFill>
                <a:latin typeface="Calibri"/>
              </a:rPr>
              <a:t>Final goal</a:t>
            </a:r>
          </a:p>
        </p:txBody>
      </p:sp>
      <p:sp>
        <p:nvSpPr>
          <p:cNvPr id="22" name="Rounded Rectangle 21"/>
          <p:cNvSpPr/>
          <p:nvPr/>
        </p:nvSpPr>
        <p:spPr>
          <a:xfrm>
            <a:off x="640080" y="4937760"/>
            <a:ext cx="10789920" cy="1371600"/>
          </a:xfrm>
          <a:prstGeom prst="round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5056632"/>
            <a:ext cx="10332720" cy="1143000"/>
          </a:xfrm>
          <a:prstGeom prst="rect">
            <a:avLst/>
          </a:prstGeom>
          <a:noFill/>
        </p:spPr>
        <p:txBody>
          <a:bodyPr wrap="square" anchor="t">
            <a:spAutoFit/>
          </a:bodyPr>
          <a:lstStyle/>
          <a:p>
            <a:pPr algn="l">
              <a:lnSpc>
                <a:spcPct val="100000"/>
              </a:lnSpc>
            </a:pPr>
            <a:r>
              <a:rPr sz="1400" b="0">
                <a:solidFill>
                  <a:srgbClr val="222833"/>
                </a:solidFill>
                <a:latin typeface="Calibri"/>
              </a:rPr>
              <a:t>A validated engineering relationship report -- process knobs, thresholds and process windows, confirmed interactions, and actionable Golden Routes (condition sets associated with high yield) and Worsen Routes (condition sets associated with low yield) -- delivered with an explicit statistical confidence level for every claim.</a:t>
            </a:r>
          </a:p>
        </p:txBody>
      </p:sp>
      <p:sp>
        <p:nvSpPr>
          <p:cNvPr id="24" name="TextBox 23"/>
          <p:cNvSpPr txBox="1"/>
          <p:nvPr/>
        </p:nvSpPr>
        <p:spPr>
          <a:xfrm>
            <a:off x="502920" y="6537960"/>
            <a:ext cx="9144000" cy="274320"/>
          </a:xfrm>
          <a:prstGeom prst="rect">
            <a:avLst/>
          </a:prstGeom>
          <a:noFill/>
        </p:spPr>
        <p:txBody>
          <a:bodyPr wrap="square" anchor="t">
            <a:spAutoFit/>
          </a:bodyPr>
          <a:lstStyle/>
          <a:p>
            <a:pPr algn="l">
              <a:lnSpc>
                <a:spcPct val="100000"/>
              </a:lnSpc>
            </a:pPr>
            <a:r>
              <a:rPr sz="900" b="0">
                <a:solidFill>
                  <a:srgbClr val="5A6370"/>
                </a:solidFill>
                <a:latin typeface="Calibri"/>
              </a:rPr>
              <a:t>YieldMindX -- AI-Based Correlation Engine for EOL Yield Optimization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