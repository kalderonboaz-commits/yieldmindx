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YieldmindX project brief (YieldmindX.docx), supplied by the project team. No market, financial, or pilot-performance figures were 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YieldmindX project brief (YieldmindX.docx), supplied by the project team. No market, financial, or pilot-performance figures were 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YieldmindX project brief (YieldmindX.docx), supplied by the project team. No market, financial, or pilot-performance figures were provided.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5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BECCF60-28EB-4F9D-A6E1-CF3F8E1C06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953125" cy="6858000"/>
          </a:xfrm>
          <a:prstGeom prst="rect">
            <a:avLst/>
          </a:prstGeom>
          <a:ln w="0">
            <a:noFill/>
            <a:prstDash val="solid"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A174CD-364F-4355-98FE-174E0E04F617}"/>
              </a:ext>
            </a:extLst>
          </p:cNvPr>
          <p:cNvSpPr>
            <a:spLocks noGrp="1"/>
          </p:cNvSpPr>
          <p:nvPr/>
        </p:nvSpPr>
        <p:spPr>
          <a:xfrm>
            <a:off x="723900" y="2000250"/>
            <a:ext cx="4762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1935"/>
          </a:bodyPr>
          <a:lstStyle/>
          <a:p>
            <a:pPr>
              <a:def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YieldMindX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846577-66F1-461D-909D-9D50E9B526B0}"/>
              </a:ext>
            </a:extLst>
          </p:cNvPr>
          <p:cNvSpPr>
            <a:spLocks noGrp="1"/>
          </p:cNvSpPr>
          <p:nvPr/>
        </p:nvSpPr>
        <p:spPr>
          <a:xfrm>
            <a:off x="762000" y="4057650"/>
            <a:ext cx="1238250" cy="57150"/>
          </a:xfrm>
          <a:prstGeom prst="rect">
            <a:avLst/>
          </a:prstGeom>
          <a:solidFill>
            <a:srgbClr val="F4B547"/>
          </a:solidFill>
          <a:ln w="0">
            <a:noFill/>
            <a:prstDash val="solid"/>
          </a:ln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8D32F7-DF46-223D-7990-57462BBA27BB}"/>
              </a:ext>
            </a:extLst>
          </p:cNvPr>
          <p:cNvSpPr txBox="1"/>
          <p:nvPr/>
        </p:nvSpPr>
        <p:spPr>
          <a:xfrm>
            <a:off x="708491" y="2811155"/>
            <a:ext cx="4536142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solidFill>
                  <a:schemeClr val="bg1"/>
                </a:solidFill>
                <a:effectLst/>
                <a:latin typeface="+mn-lt"/>
                <a:ea typeface="Calibri" panose="020F0502020204030204" pitchFamily="34" charset="0"/>
                <a:cs typeface="Arial" panose="020B0604020202020204" pitchFamily="34" charset="0"/>
              </a:rPr>
              <a:t>AI‑Based Correlation Engine for End‑of‑Line (EOL) Yield Optimization</a:t>
            </a:r>
            <a:endParaRPr lang="he-IL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2755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E6E756E-3A2C-45D6-A63D-875728EE0C04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6032"/>
          </a:bodyPr>
          <a:lstStyle/>
          <a:p>
            <a:pPr>
              <a:defRPr sz="3150" b="1">
                <a:solidFill>
                  <a:srgbClr val="10253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2538"/>
                </a:solidFill>
                <a:latin typeface="Aptos Display"/>
                <a:ea typeface="Aptos Display"/>
                <a:cs typeface="Aptos Display"/>
              </a:rPr>
              <a:t>Yield decisions arrive too late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15E495-3992-419A-B40B-4C02AF7CC205}"/>
              </a:ext>
            </a:extLst>
          </p:cNvPr>
          <p:cNvSpPr>
            <a:spLocks noGrp="1"/>
          </p:cNvSpPr>
          <p:nvPr/>
        </p:nvSpPr>
        <p:spPr>
          <a:xfrm>
            <a:off x="704850" y="106680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500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2000" dirty="0" err="1">
                <a:latin typeface="Aptos"/>
                <a:ea typeface="Aptos"/>
                <a:cs typeface="Aptos"/>
              </a:rPr>
              <a:t>YieldMindX</a:t>
            </a:r>
            <a:r>
              <a:rPr sz="2000" dirty="0">
                <a:latin typeface="Aptos"/>
                <a:ea typeface="Aptos"/>
                <a:cs typeface="Aptos"/>
              </a:rPr>
              <a:t> connects </a:t>
            </a:r>
            <a:r>
              <a:rPr lang="en-US" sz="2000" dirty="0">
                <a:latin typeface="Aptos"/>
                <a:ea typeface="Aptos"/>
                <a:cs typeface="Aptos"/>
              </a:rPr>
              <a:t>yield</a:t>
            </a:r>
            <a:r>
              <a:rPr sz="2000" dirty="0">
                <a:latin typeface="Aptos"/>
                <a:ea typeface="Aptos"/>
                <a:cs typeface="Aptos"/>
              </a:rPr>
              <a:t> to the </a:t>
            </a:r>
            <a:r>
              <a:rPr lang="en-US" sz="2000" dirty="0">
                <a:latin typeface="Aptos"/>
                <a:ea typeface="Aptos"/>
                <a:cs typeface="Aptos"/>
              </a:rPr>
              <a:t>process parameters</a:t>
            </a:r>
            <a:endParaRPr sz="2000" dirty="0">
              <a:latin typeface="Aptos"/>
              <a:ea typeface="Aptos"/>
              <a:cs typeface="Apto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9DFD2F-317B-4001-B707-F1F4CAAA525F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762000" cy="57150"/>
          </a:xfrm>
          <a:prstGeom prst="rect">
            <a:avLst/>
          </a:prstGeom>
          <a:solidFill>
            <a:srgbClr val="15C7D9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F23E6DE-ED88-48B3-9A28-4392F1AE0CFD}"/>
              </a:ext>
            </a:extLst>
          </p:cNvPr>
          <p:cNvSpPr>
            <a:spLocks noGrp="1"/>
          </p:cNvSpPr>
          <p:nvPr/>
        </p:nvSpPr>
        <p:spPr>
          <a:xfrm>
            <a:off x="685800" y="2047875"/>
            <a:ext cx="3190875" cy="3000375"/>
          </a:xfrm>
          <a:prstGeom prst="roundRect">
            <a:avLst>
              <a:gd name="adj" fmla="val 5079"/>
            </a:avLst>
          </a:prstGeom>
          <a:solidFill>
            <a:srgbClr val="FFFFFF"/>
          </a:solidFill>
          <a:ln w="19050">
            <a:solidFill>
              <a:srgbClr val="E86F63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39DE61-17D1-4EBA-9B83-3E9B3B4C2165}"/>
              </a:ext>
            </a:extLst>
          </p:cNvPr>
          <p:cNvSpPr>
            <a:spLocks noGrp="1"/>
          </p:cNvSpPr>
          <p:nvPr/>
        </p:nvSpPr>
        <p:spPr>
          <a:xfrm>
            <a:off x="895350" y="2238375"/>
            <a:ext cx="27717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950" b="1">
                <a:solidFill>
                  <a:srgbClr val="10253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538"/>
                </a:solidFill>
                <a:latin typeface="Aptos Display"/>
                <a:ea typeface="Aptos Display"/>
                <a:cs typeface="Aptos Display"/>
              </a:rPr>
              <a:t>Today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C1924F-4807-4736-9FC3-91FAA2CA0F33}"/>
              </a:ext>
            </a:extLst>
          </p:cNvPr>
          <p:cNvSpPr>
            <a:spLocks noGrp="1"/>
          </p:cNvSpPr>
          <p:nvPr/>
        </p:nvSpPr>
        <p:spPr>
          <a:xfrm>
            <a:off x="914400" y="2771775"/>
            <a:ext cx="2733675" cy="2124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575">
                <a:solidFill>
                  <a:srgbClr val="32485B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32485B"/>
                </a:solidFill>
                <a:latin typeface="Aptos"/>
                <a:ea typeface="Aptos"/>
                <a:cs typeface="Aptos"/>
              </a:rPr>
              <a:t>EOL sort confirms yield after the fact. Engineers manually search across many logs and test sheets.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8F3084F-7392-47FA-94A4-DDC20DA6528A}"/>
              </a:ext>
            </a:extLst>
          </p:cNvPr>
          <p:cNvSpPr>
            <a:spLocks noGrp="1"/>
          </p:cNvSpPr>
          <p:nvPr/>
        </p:nvSpPr>
        <p:spPr>
          <a:xfrm>
            <a:off x="4495800" y="2047875"/>
            <a:ext cx="3190875" cy="3000375"/>
          </a:xfrm>
          <a:prstGeom prst="roundRect">
            <a:avLst>
              <a:gd name="adj" fmla="val 5079"/>
            </a:avLst>
          </a:prstGeom>
          <a:solidFill>
            <a:srgbClr val="FFFFFF"/>
          </a:solidFill>
          <a:ln w="19050">
            <a:solidFill>
              <a:srgbClr val="F4B547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AC7B95-C554-460E-BF1A-66AE63A5FE78}"/>
              </a:ext>
            </a:extLst>
          </p:cNvPr>
          <p:cNvSpPr>
            <a:spLocks noGrp="1"/>
          </p:cNvSpPr>
          <p:nvPr/>
        </p:nvSpPr>
        <p:spPr>
          <a:xfrm>
            <a:off x="4705350" y="2238375"/>
            <a:ext cx="27717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950" b="1">
                <a:solidFill>
                  <a:srgbClr val="10253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538"/>
                </a:solidFill>
                <a:latin typeface="Aptos Display"/>
                <a:ea typeface="Aptos Display"/>
                <a:cs typeface="Aptos Display"/>
              </a:rPr>
              <a:t>YieldMindX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9781D4-2AE8-48DF-BC47-1C5E3AAFEA72}"/>
              </a:ext>
            </a:extLst>
          </p:cNvPr>
          <p:cNvSpPr>
            <a:spLocks noGrp="1"/>
          </p:cNvSpPr>
          <p:nvPr/>
        </p:nvSpPr>
        <p:spPr>
          <a:xfrm>
            <a:off x="4724400" y="2771775"/>
            <a:ext cx="2733675" cy="2124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575">
                <a:solidFill>
                  <a:srgbClr val="32485B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32485B"/>
                </a:solidFill>
                <a:latin typeface="Aptos"/>
                <a:ea typeface="Aptos"/>
                <a:cs typeface="Aptos"/>
              </a:rPr>
              <a:t>AI models relate in-line electrical and process parameters to final wafer yield.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D93C724-9AB8-49E5-AEF7-EA40DBF618DC}"/>
              </a:ext>
            </a:extLst>
          </p:cNvPr>
          <p:cNvSpPr>
            <a:spLocks noGrp="1"/>
          </p:cNvSpPr>
          <p:nvPr/>
        </p:nvSpPr>
        <p:spPr>
          <a:xfrm>
            <a:off x="8305800" y="2047875"/>
            <a:ext cx="3190875" cy="3000375"/>
          </a:xfrm>
          <a:prstGeom prst="roundRect">
            <a:avLst>
              <a:gd name="adj" fmla="val 5079"/>
            </a:avLst>
          </a:prstGeom>
          <a:solidFill>
            <a:srgbClr val="FFFFFF"/>
          </a:solidFill>
          <a:ln w="19050">
            <a:solidFill>
              <a:srgbClr val="37B981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E72197-20E4-494B-82F6-ABC38E207EFC}"/>
              </a:ext>
            </a:extLst>
          </p:cNvPr>
          <p:cNvSpPr>
            <a:spLocks noGrp="1"/>
          </p:cNvSpPr>
          <p:nvPr/>
        </p:nvSpPr>
        <p:spPr>
          <a:xfrm>
            <a:off x="8515350" y="2238375"/>
            <a:ext cx="27717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950" b="1">
                <a:solidFill>
                  <a:srgbClr val="10253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538"/>
                </a:solidFill>
                <a:latin typeface="Aptos Display"/>
                <a:ea typeface="Aptos Display"/>
                <a:cs typeface="Aptos Display"/>
              </a:rPr>
              <a:t>Operational result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B69E3F-0086-4BF3-BB01-8EC86FFF47FF}"/>
              </a:ext>
            </a:extLst>
          </p:cNvPr>
          <p:cNvSpPr>
            <a:spLocks noGrp="1"/>
          </p:cNvSpPr>
          <p:nvPr/>
        </p:nvSpPr>
        <p:spPr>
          <a:xfrm>
            <a:off x="8534400" y="2771775"/>
            <a:ext cx="2733675" cy="2124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575">
                <a:solidFill>
                  <a:srgbClr val="32485B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32485B"/>
                </a:solidFill>
                <a:latin typeface="Aptos"/>
                <a:ea typeface="Aptos"/>
                <a:cs typeface="Aptos"/>
              </a:rPr>
              <a:t>Teams see critical drivers, route patterns, and excursion risk earlier.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CE9E912-B751-4FBA-9B7D-C25E001F832F}"/>
              </a:ext>
            </a:extLst>
          </p:cNvPr>
          <p:cNvSpPr>
            <a:spLocks noGrp="1"/>
          </p:cNvSpPr>
          <p:nvPr/>
        </p:nvSpPr>
        <p:spPr>
          <a:xfrm>
            <a:off x="1143000" y="5591175"/>
            <a:ext cx="9906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87654" lnSpcReduction="10000"/>
          </a:bodyPr>
          <a:lstStyle/>
          <a:p>
            <a:pPr algn="ctr">
              <a:defRPr sz="2025" b="1">
                <a:solidFill>
                  <a:srgbClr val="102538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dirty="0">
                <a:solidFill>
                  <a:srgbClr val="102538"/>
                </a:solidFill>
                <a:latin typeface="Aptos Display"/>
                <a:ea typeface="Aptos Display"/>
                <a:cs typeface="Aptos Display"/>
              </a:rPr>
              <a:t>Focus engineering effort on the process conditions that deserve attention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B514BD7-BAE5-4E31-A9A1-C21E9C0ECCE3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3846"/>
          </a:bodyPr>
          <a:lstStyle/>
          <a:p>
            <a:pPr>
              <a:defRPr sz="975">
                <a:solidFill>
                  <a:srgbClr val="8092A0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8092A0"/>
                </a:solidFill>
                <a:latin typeface="Aptos"/>
                <a:ea typeface="Aptos"/>
                <a:cs typeface="Aptos"/>
              </a:rPr>
              <a:t>YieldMindX  |  02</a:t>
            </a:r>
          </a:p>
        </p:txBody>
      </p:sp>
    </p:spTree>
    <p:extLst>
      <p:ext uri="{BB962C8B-B14F-4D97-AF65-F5344CB8AC3E}">
        <p14:creationId xmlns:p14="http://schemas.microsoft.com/office/powerpoint/2010/main" val="3468694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FA7F410F-8888-439A-AB51-9FC73AE6E1C1}"/>
              </a:ext>
            </a:extLst>
          </p:cNvPr>
          <p:cNvSpPr>
            <a:spLocks noGrp="1"/>
          </p:cNvSpPr>
          <p:nvPr/>
        </p:nvSpPr>
        <p:spPr>
          <a:xfrm>
            <a:off x="685800" y="438150"/>
            <a:ext cx="10572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6032"/>
          </a:bodyPr>
          <a:lstStyle/>
          <a:p>
            <a:pPr>
              <a:defRPr sz="3150" b="1">
                <a:solidFill>
                  <a:srgbClr val="10253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2538"/>
                </a:solidFill>
                <a:latin typeface="Aptos Display"/>
                <a:ea typeface="Aptos Display"/>
                <a:cs typeface="Aptos Display"/>
              </a:rPr>
              <a:t>Yield intelligence workflow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781864-767E-458E-9289-D23266A36E43}"/>
              </a:ext>
            </a:extLst>
          </p:cNvPr>
          <p:cNvSpPr>
            <a:spLocks noGrp="1"/>
          </p:cNvSpPr>
          <p:nvPr/>
        </p:nvSpPr>
        <p:spPr>
          <a:xfrm>
            <a:off x="704850" y="1066800"/>
            <a:ext cx="10287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1500">
                <a:solidFill>
                  <a:srgbClr val="607487"/>
                </a:solidFill>
                <a:latin typeface="Aptos"/>
                <a:ea typeface="Aptos"/>
                <a:cs typeface="Aptos"/>
              </a:defRPr>
            </a:pPr>
            <a:r>
              <a:rPr sz="2500" dirty="0">
                <a:solidFill>
                  <a:srgbClr val="607487"/>
                </a:solidFill>
                <a:latin typeface="Aptos"/>
                <a:ea typeface="Aptos"/>
                <a:cs typeface="Aptos"/>
              </a:rPr>
              <a:t>Large, readable flow from manufacturing data to engineering response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A2625B-8B10-4F8A-BF08-53833D3EFA28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762000" cy="57150"/>
          </a:xfrm>
          <a:prstGeom prst="rect">
            <a:avLst/>
          </a:prstGeom>
          <a:solidFill>
            <a:srgbClr val="15C7D9"/>
          </a:solidFill>
          <a:ln w="0">
            <a:noFill/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30D4169-A52B-4B5C-98A1-B1EDBD39D2B4}"/>
              </a:ext>
            </a:extLst>
          </p:cNvPr>
          <p:cNvSpPr>
            <a:spLocks noGrp="1"/>
          </p:cNvSpPr>
          <p:nvPr/>
        </p:nvSpPr>
        <p:spPr>
          <a:xfrm>
            <a:off x="590550" y="2476500"/>
            <a:ext cx="2333625" cy="1666875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9050">
            <a:solidFill>
              <a:srgbClr val="15C7D9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C3EF8C-85B2-4998-A77A-CED720A07FA1}"/>
              </a:ext>
            </a:extLst>
          </p:cNvPr>
          <p:cNvSpPr>
            <a:spLocks noGrp="1"/>
          </p:cNvSpPr>
          <p:nvPr/>
        </p:nvSpPr>
        <p:spPr>
          <a:xfrm>
            <a:off x="800100" y="2667000"/>
            <a:ext cx="19145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950" b="1">
                <a:solidFill>
                  <a:srgbClr val="10253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538"/>
                </a:solidFill>
                <a:latin typeface="Aptos Display"/>
                <a:ea typeface="Aptos Display"/>
                <a:cs typeface="Aptos Display"/>
              </a:rPr>
              <a:t>In-line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8FFC2D1-7C00-4824-892E-48564F4437E9}"/>
              </a:ext>
            </a:extLst>
          </p:cNvPr>
          <p:cNvSpPr>
            <a:spLocks noGrp="1"/>
          </p:cNvSpPr>
          <p:nvPr/>
        </p:nvSpPr>
        <p:spPr>
          <a:xfrm>
            <a:off x="819150" y="3200400"/>
            <a:ext cx="1876425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7090"/>
          </a:bodyPr>
          <a:lstStyle/>
          <a:p>
            <a:pPr algn="ctr">
              <a:defRPr sz="1575">
                <a:solidFill>
                  <a:srgbClr val="32485B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32485B"/>
                </a:solidFill>
                <a:latin typeface="Aptos"/>
                <a:ea typeface="Aptos"/>
                <a:cs typeface="Aptos"/>
              </a:rPr>
              <a:t>Process conditions</a:t>
            </a:r>
          </a:p>
          <a:p>
            <a:pPr algn="ctr">
              <a:defRPr sz="1575">
                <a:solidFill>
                  <a:srgbClr val="32485B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32485B"/>
                </a:solidFill>
                <a:latin typeface="Aptos"/>
                <a:ea typeface="Aptos"/>
                <a:cs typeface="Aptos"/>
              </a:rPr>
              <a:t>Electrical and parametric tests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FEDEEAB-0623-4120-991D-D97A4E08B1FA}"/>
              </a:ext>
            </a:extLst>
          </p:cNvPr>
          <p:cNvSpPr>
            <a:spLocks noGrp="1"/>
          </p:cNvSpPr>
          <p:nvPr/>
        </p:nvSpPr>
        <p:spPr>
          <a:xfrm>
            <a:off x="3524250" y="2476500"/>
            <a:ext cx="2381250" cy="1666875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9050">
            <a:solidFill>
              <a:srgbClr val="F4B547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A5B4F2-7950-450D-9B4E-F01A96F6D627}"/>
              </a:ext>
            </a:extLst>
          </p:cNvPr>
          <p:cNvSpPr>
            <a:spLocks noGrp="1"/>
          </p:cNvSpPr>
          <p:nvPr/>
        </p:nvSpPr>
        <p:spPr>
          <a:xfrm>
            <a:off x="3733800" y="2667000"/>
            <a:ext cx="1962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950" b="1">
                <a:solidFill>
                  <a:srgbClr val="10253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538"/>
                </a:solidFill>
                <a:latin typeface="Aptos Display"/>
                <a:ea typeface="Aptos Display"/>
                <a:cs typeface="Aptos Display"/>
              </a:rPr>
              <a:t>AI correlation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1A41821-F3B7-4E76-8C15-196584B7282A}"/>
              </a:ext>
            </a:extLst>
          </p:cNvPr>
          <p:cNvSpPr>
            <a:spLocks noGrp="1"/>
          </p:cNvSpPr>
          <p:nvPr/>
        </p:nvSpPr>
        <p:spPr>
          <a:xfrm>
            <a:off x="3752850" y="3200400"/>
            <a:ext cx="19240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7090"/>
          </a:bodyPr>
          <a:lstStyle/>
          <a:p>
            <a:pPr algn="ctr">
              <a:defRPr sz="1575">
                <a:solidFill>
                  <a:srgbClr val="32485B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32485B"/>
                </a:solidFill>
                <a:latin typeface="Aptos"/>
                <a:ea typeface="Aptos"/>
                <a:cs typeface="Aptos"/>
              </a:rPr>
              <a:t>Wafer-level relationships</a:t>
            </a:r>
          </a:p>
          <a:p>
            <a:pPr algn="ctr">
              <a:defRPr sz="1575">
                <a:solidFill>
                  <a:srgbClr val="32485B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32485B"/>
                </a:solidFill>
                <a:latin typeface="Aptos"/>
                <a:ea typeface="Aptos"/>
                <a:cs typeface="Aptos"/>
              </a:rPr>
              <a:t>Yield prediction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3EA46B4-5F9A-4B49-A798-313FF000C1C7}"/>
              </a:ext>
            </a:extLst>
          </p:cNvPr>
          <p:cNvSpPr>
            <a:spLocks noGrp="1"/>
          </p:cNvSpPr>
          <p:nvPr/>
        </p:nvSpPr>
        <p:spPr>
          <a:xfrm>
            <a:off x="6505575" y="2476500"/>
            <a:ext cx="2333625" cy="1666875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9050">
            <a:solidFill>
              <a:srgbClr val="E86F63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0C7CD9-7C83-4B95-AFF7-20977B5811EB}"/>
              </a:ext>
            </a:extLst>
          </p:cNvPr>
          <p:cNvSpPr>
            <a:spLocks noGrp="1"/>
          </p:cNvSpPr>
          <p:nvPr/>
        </p:nvSpPr>
        <p:spPr>
          <a:xfrm>
            <a:off x="6715125" y="2667000"/>
            <a:ext cx="19145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950" b="1">
                <a:solidFill>
                  <a:srgbClr val="10253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538"/>
                </a:solidFill>
                <a:latin typeface="Aptos Display"/>
                <a:ea typeface="Aptos Display"/>
                <a:cs typeface="Aptos Display"/>
              </a:rPr>
              <a:t>Risk signals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4C15E2-0C10-4C95-B299-F6C7063AB7CB}"/>
              </a:ext>
            </a:extLst>
          </p:cNvPr>
          <p:cNvSpPr>
            <a:spLocks noGrp="1"/>
          </p:cNvSpPr>
          <p:nvPr/>
        </p:nvSpPr>
        <p:spPr>
          <a:xfrm>
            <a:off x="6734175" y="3200400"/>
            <a:ext cx="1876425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7090"/>
          </a:bodyPr>
          <a:lstStyle/>
          <a:p>
            <a:pPr algn="ctr">
              <a:defRPr sz="1575">
                <a:solidFill>
                  <a:srgbClr val="32485B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32485B"/>
                </a:solidFill>
                <a:latin typeface="Aptos"/>
                <a:ea typeface="Aptos"/>
                <a:cs typeface="Aptos"/>
              </a:rPr>
              <a:t>Golden and worsening routes</a:t>
            </a:r>
          </a:p>
          <a:p>
            <a:pPr algn="ctr">
              <a:defRPr sz="1575">
                <a:solidFill>
                  <a:srgbClr val="32485B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32485B"/>
                </a:solidFill>
                <a:latin typeface="Aptos"/>
                <a:ea typeface="Aptos"/>
                <a:cs typeface="Aptos"/>
              </a:rPr>
              <a:t>Excursion detection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E8B955F-2C6F-44DA-8CF5-3DE731042784}"/>
              </a:ext>
            </a:extLst>
          </p:cNvPr>
          <p:cNvSpPr>
            <a:spLocks noGrp="1"/>
          </p:cNvSpPr>
          <p:nvPr/>
        </p:nvSpPr>
        <p:spPr>
          <a:xfrm>
            <a:off x="9429750" y="2476500"/>
            <a:ext cx="2190750" cy="1666875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19050">
            <a:solidFill>
              <a:srgbClr val="37B981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E13A92-2207-46C9-81C3-D1AEBD32B96C}"/>
              </a:ext>
            </a:extLst>
          </p:cNvPr>
          <p:cNvSpPr>
            <a:spLocks noGrp="1"/>
          </p:cNvSpPr>
          <p:nvPr/>
        </p:nvSpPr>
        <p:spPr>
          <a:xfrm>
            <a:off x="9639300" y="2667000"/>
            <a:ext cx="17716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9733"/>
          </a:bodyPr>
          <a:lstStyle/>
          <a:p>
            <a:pPr algn="ctr">
              <a:defRPr sz="1950" b="1">
                <a:solidFill>
                  <a:srgbClr val="102538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02538"/>
                </a:solidFill>
                <a:latin typeface="Aptos Display"/>
                <a:ea typeface="Aptos Display"/>
                <a:cs typeface="Aptos Display"/>
              </a:rPr>
              <a:t>Engineer action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EAACCC-BD43-4C3D-B5CB-8854C2F3DCD4}"/>
              </a:ext>
            </a:extLst>
          </p:cNvPr>
          <p:cNvSpPr>
            <a:spLocks noGrp="1"/>
          </p:cNvSpPr>
          <p:nvPr/>
        </p:nvSpPr>
        <p:spPr>
          <a:xfrm>
            <a:off x="9658350" y="3200400"/>
            <a:ext cx="1733550" cy="790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97090"/>
          </a:bodyPr>
          <a:lstStyle/>
          <a:p>
            <a:pPr algn="ctr">
              <a:defRPr sz="1575">
                <a:solidFill>
                  <a:srgbClr val="32485B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32485B"/>
                </a:solidFill>
                <a:latin typeface="Aptos"/>
                <a:ea typeface="Aptos"/>
                <a:cs typeface="Aptos"/>
              </a:rPr>
              <a:t>Prioritized investigation</a:t>
            </a:r>
          </a:p>
          <a:p>
            <a:pPr algn="ctr">
              <a:defRPr sz="1575">
                <a:solidFill>
                  <a:srgbClr val="32485B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32485B"/>
                </a:solidFill>
                <a:latin typeface="Aptos"/>
                <a:ea typeface="Aptos"/>
                <a:cs typeface="Aptos"/>
              </a:rPr>
              <a:t>and response</a:t>
            </a:r>
          </a:p>
        </p:txBody>
      </p:sp>
      <p:cxnSp>
        <p:nvCxnSpPr>
          <p:cNvPr id="36" name="Straight Arrow Connector 35"/>
          <p:cNvCxnSpPr>
            <a:stCxn id="4" idx="3"/>
            <a:endCxn id="7" idx="1"/>
          </p:cNvCxnSpPr>
          <p:nvPr/>
        </p:nvCxnSpPr>
        <p:spPr>
          <a:xfrm>
            <a:off x="2924175" y="3309938"/>
            <a:ext cx="600075" cy="0"/>
          </a:xfrm>
          <a:prstGeom prst="straightConnector1">
            <a:avLst/>
          </a:prstGeom>
          <a:ln w="38100">
            <a:solidFill>
              <a:srgbClr val="15C7D9"/>
            </a:solidFill>
            <a:prstDash val="solid"/>
            <a:tailEnd type="arrow" w="med" len="med"/>
          </a:ln>
        </p:spPr>
      </p:cxnSp>
      <p:cxnSp>
        <p:nvCxnSpPr>
          <p:cNvPr id="37" name="Straight Arrow Connector 36"/>
          <p:cNvCxnSpPr>
            <a:stCxn id="7" idx="3"/>
            <a:endCxn id="10" idx="1"/>
          </p:cNvCxnSpPr>
          <p:nvPr/>
        </p:nvCxnSpPr>
        <p:spPr>
          <a:xfrm>
            <a:off x="5905500" y="3309938"/>
            <a:ext cx="600075" cy="0"/>
          </a:xfrm>
          <a:prstGeom prst="straightConnector1">
            <a:avLst/>
          </a:prstGeom>
          <a:ln w="38100">
            <a:solidFill>
              <a:srgbClr val="F4B547"/>
            </a:solidFill>
            <a:prstDash val="solid"/>
            <a:tailEnd type="arrow" w="med" len="med"/>
          </a:ln>
        </p:spPr>
      </p:cxnSp>
      <p:cxnSp>
        <p:nvCxnSpPr>
          <p:cNvPr id="38" name="Straight Arrow Connector 37"/>
          <p:cNvCxnSpPr>
            <a:stCxn id="10" idx="3"/>
            <a:endCxn id="13" idx="1"/>
          </p:cNvCxnSpPr>
          <p:nvPr/>
        </p:nvCxnSpPr>
        <p:spPr>
          <a:xfrm>
            <a:off x="8839200" y="3309938"/>
            <a:ext cx="590550" cy="0"/>
          </a:xfrm>
          <a:prstGeom prst="straightConnector1">
            <a:avLst/>
          </a:prstGeom>
          <a:ln w="38100">
            <a:solidFill>
              <a:srgbClr val="37B981"/>
            </a:solidFill>
            <a:prstDash val="solid"/>
            <a:tailEnd type="arrow" w="med" len="med"/>
          </a:ln>
        </p:spPr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F27943B-95F8-42F5-A595-CF3B4087B6E2}"/>
              </a:ext>
            </a:extLst>
          </p:cNvPr>
          <p:cNvSpPr>
            <a:spLocks noGrp="1"/>
          </p:cNvSpPr>
          <p:nvPr/>
        </p:nvSpPr>
        <p:spPr>
          <a:xfrm>
            <a:off x="1619250" y="4953000"/>
            <a:ext cx="895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/>
          </a:bodyPr>
          <a:lstStyle/>
          <a:p>
            <a:pPr algn="ctr">
              <a:defRPr sz="1650">
                <a:solidFill>
                  <a:srgbClr val="32485B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32485B"/>
                </a:solidFill>
                <a:latin typeface="Aptos"/>
                <a:ea typeface="Aptos"/>
                <a:cs typeface="Aptos"/>
              </a:rPr>
              <a:t>Flow direction: manufacturing records  →  model insight  →  engineering action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26FD7B7-7153-4584-B56D-9728BACA5478}"/>
              </a:ext>
            </a:extLst>
          </p:cNvPr>
          <p:cNvSpPr>
            <a:spLocks noGrp="1"/>
          </p:cNvSpPr>
          <p:nvPr/>
        </p:nvSpPr>
        <p:spPr>
          <a:xfrm>
            <a:off x="685800" y="6486525"/>
            <a:ext cx="2190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rmAutofit fontScale="53846"/>
          </a:bodyPr>
          <a:lstStyle/>
          <a:p>
            <a:pPr>
              <a:defRPr sz="975">
                <a:solidFill>
                  <a:srgbClr val="8092A0"/>
                </a:solidFill>
                <a:latin typeface="Aptos"/>
                <a:ea typeface="Aptos"/>
                <a:cs typeface="Aptos"/>
              </a:defRPr>
            </a:pPr>
            <a:r>
              <a:rPr sz="975">
                <a:solidFill>
                  <a:srgbClr val="8092A0"/>
                </a:solidFill>
                <a:latin typeface="Aptos"/>
                <a:ea typeface="Aptos"/>
                <a:cs typeface="Aptos"/>
              </a:rPr>
              <a:t>YieldMindX  |  03</a:t>
            </a:r>
          </a:p>
        </p:txBody>
      </p:sp>
    </p:spTree>
    <p:extLst>
      <p:ext uri="{BB962C8B-B14F-4D97-AF65-F5344CB8AC3E}">
        <p14:creationId xmlns:p14="http://schemas.microsoft.com/office/powerpoint/2010/main" val="77711282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226</Words>
  <Application>Microsoft Office PowerPoint</Application>
  <DocSecurity>0</DocSecurity>
  <PresentationFormat>Widescreen</PresentationFormat>
  <Paragraphs>31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בועז קלדרון</cp:lastModifiedBy>
  <cp:revision>2</cp:revision>
  <dcterms:created xsi:type="dcterms:W3CDTF">2026-09-10T10:25:42Z</dcterms:created>
  <dcterms:modified xsi:type="dcterms:W3CDTF">2026-09-10T11:35:13Z</dcterms:modified>
</cp:coreProperties>
</file>